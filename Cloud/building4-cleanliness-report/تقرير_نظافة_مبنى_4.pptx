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image" Target="../media/image6.jpg"/><Relationship Id="rId4" Type="http://schemas.openxmlformats.org/officeDocument/2006/relationships/image" Target="../media/image7.jpg"/><Relationship Id="rId5" Type="http://schemas.openxmlformats.org/officeDocument/2006/relationships/image" Target="../media/image8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image" Target="../media/image10.jpg"/><Relationship Id="rId4" Type="http://schemas.openxmlformats.org/officeDocument/2006/relationships/image" Target="../media/image11.jpg"/><Relationship Id="rId5" Type="http://schemas.openxmlformats.org/officeDocument/2006/relationships/image" Target="../media/image1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image" Target="../media/image14.jpg"/><Relationship Id="rId4" Type="http://schemas.openxmlformats.org/officeDocument/2006/relationships/image" Target="../media/image15.jpg"/><Relationship Id="rId5" Type="http://schemas.openxmlformats.org/officeDocument/2006/relationships/image" Target="../media/image16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image" Target="../media/image18.jpg"/><Relationship Id="rId4" Type="http://schemas.openxmlformats.org/officeDocument/2006/relationships/image" Target="../media/image19.jpg"/><Relationship Id="rId5" Type="http://schemas.openxmlformats.org/officeDocument/2006/relationships/image" Target="../media/image20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image" Target="../media/image22.jpg"/><Relationship Id="rId4" Type="http://schemas.openxmlformats.org/officeDocument/2006/relationships/image" Target="../media/image23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image" Target="../media/image25.jpg"/><Relationship Id="rId4" Type="http://schemas.openxmlformats.org/officeDocument/2006/relationships/image" Target="../media/image26.jpg"/><Relationship Id="rId5" Type="http://schemas.openxmlformats.org/officeDocument/2006/relationships/image" Target="../media/image2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image" Target="../media/image29.jpg"/><Relationship Id="rId4" Type="http://schemas.openxmlformats.org/officeDocument/2006/relationships/image" Target="../media/image30.jpg"/><Relationship Id="rId5" Type="http://schemas.openxmlformats.org/officeDocument/2006/relationships/image" Target="../media/image31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image" Target="../media/image33.jpg"/><Relationship Id="rId4" Type="http://schemas.openxmlformats.org/officeDocument/2006/relationships/image" Target="../media/image34.jpg"/><Relationship Id="rId5" Type="http://schemas.openxmlformats.org/officeDocument/2006/relationships/image" Target="../media/image35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jp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jpg"/><Relationship Id="rId3" Type="http://schemas.openxmlformats.org/officeDocument/2006/relationships/image" Target="../media/image41.jpg"/><Relationship Id="rId4" Type="http://schemas.openxmlformats.org/officeDocument/2006/relationships/image" Target="../media/image42.jpg"/><Relationship Id="rId5" Type="http://schemas.openxmlformats.org/officeDocument/2006/relationships/image" Target="../media/image43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jpg"/><Relationship Id="rId3" Type="http://schemas.openxmlformats.org/officeDocument/2006/relationships/image" Target="../media/image45.jpg"/><Relationship Id="rId4" Type="http://schemas.openxmlformats.org/officeDocument/2006/relationships/image" Target="../media/image46.jpg"/><Relationship Id="rId5" Type="http://schemas.openxmlformats.org/officeDocument/2006/relationships/image" Target="../media/image4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75488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  <a:cs typeface="Arial"/>
              </a:rPr>
              <a:t>تقرير مستوى النظافة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651760"/>
            <a:ext cx="10698480" cy="9144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0">
                <a:solidFill>
                  <a:srgbClr val="C9D6E3"/>
                </a:solidFill>
                <a:latin typeface="Arial"/>
                <a:cs typeface="Arial"/>
              </a:rPr>
              <a:t>مبنى ٤ – العوامل المؤثرة على النظافة والتوجيهات المقترحة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02920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200" b="0">
                <a:solidFill>
                  <a:srgbClr val="FFFFFF"/>
                </a:solidFill>
                <a:latin typeface="Arial"/>
                <a:cs typeface="Arial"/>
              </a:rPr>
              <a:t>تاريخ الجولة: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57784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800" b="0">
                <a:solidFill>
                  <a:srgbClr val="C9D6E3"/>
                </a:solidFill>
                <a:latin typeface="Arial"/>
                <a:cs typeface="Arial"/>
              </a:rPr>
              <a:t>جولة ميدانية موثّقة بالصور  •  ٩٦ صورة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نطاق الجولة ومنهجية التقرير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371600"/>
            <a:ext cx="10698480" cy="41148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جولة ميدانية على مبنى ٤ بتاريخ ١٧ / ١٠ / ٢٠٢٦م، وتم التقاط الصور في المساء.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شملت الجولة القاعات الدراسية، والمعامل ومكاتب أعضاء هيئة التدريس، والممرات، ودورات المياه.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تم توثيق الوضع الراهن بـ ٩٦ صورة، رُوجعت جميعها وصُنّفت إلى ٨ فئات.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التصنيف بصري، وقد تُظهر الصورة الواحدة أكثر من ملاحظة؛ فصُنّفت حسب الملاحظة الأبرز.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الصور باهتة اللون في مواضع البقع تدل على بقع مستعصية لا تزول حتى بعد التنظيف بالجلاية.</a:t>
            </a:r>
          </a:p>
          <a:p>
            <a:pPr rtl="1" algn="r">
              <a:spcAft>
                <a:spcPts val="600"/>
              </a:spcAft>
            </a:pPr>
            <a:r>
              <a:rPr sz="2000" b="0">
                <a:solidFill>
                  <a:srgbClr val="1B3A5C"/>
                </a:solidFill>
                <a:latin typeface="Arial"/>
                <a:cs typeface="Arial"/>
              </a:rPr>
              <a:t>•  يختم التقرير بآلية رفع الملاحظات والتوجيهات للإدارات المعنية.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ملخص نتائج التصنيف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توزيع الصور الـ ٩٦ حسب نوع الملاحظة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325880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مستعصية على أرضيات القاعات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1399032"/>
            <a:ext cx="548640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325880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29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949440" y="1892807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على السجاد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12068" y="1965960"/>
            <a:ext cx="945931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271988" y="1892807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0" y="2459736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بقع وآثار على الأرضيات الملونة والزوايا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12068" y="2532888"/>
            <a:ext cx="945931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71988" y="2459736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3026664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تجهيزات معطلة / خارج الخدمة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155324" y="3099816"/>
            <a:ext cx="1702675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15244" y="3026664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593592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أرضيات وتصريف دورات المياه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533696" y="3666744"/>
            <a:ext cx="1324303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93616" y="3593592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9440" y="4160520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سلال مهملات ممتلئة أو متسخة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87765" y="4233672"/>
            <a:ext cx="2270234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947685" y="4160520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27448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مخلفات وتخزين غير منظم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912068" y="4800600"/>
            <a:ext cx="945931" cy="3657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271988" y="4727448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E08E0B"/>
                </a:solidFill>
                <a:latin typeface="Arial"/>
                <a:cs typeface="Arial"/>
              </a:rPr>
              <a:t>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49440" y="5294376"/>
            <a:ext cx="475488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1B3A5C"/>
                </a:solidFill>
                <a:latin typeface="Arial"/>
                <a:cs typeface="Arial"/>
              </a:rPr>
              <a:t>مواقع بحالة جيدة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06717" y="5367528"/>
            <a:ext cx="4351282" cy="3657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66637" y="5294376"/>
            <a:ext cx="594360" cy="5029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600" b="1">
                <a:solidFill>
                  <a:srgbClr val="2E8B57"/>
                </a:solidFill>
                <a:latin typeface="Arial"/>
                <a:cs typeface="Arial"/>
              </a:rPr>
              <a:t>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1520" y="5952744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600" b="1">
                <a:solidFill>
                  <a:srgbClr val="C0392B"/>
                </a:solidFill>
                <a:latin typeface="Arial"/>
                <a:cs typeface="Arial"/>
              </a:rPr>
              <a:t>إجمالي صور الملاحظات: 72 من ٩٦ صورة  (و1 صور غير مصنفة)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6364224"/>
            <a:ext cx="108813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300" b="0">
                <a:solidFill>
                  <a:srgbClr val="55606B"/>
                </a:solidFill>
                <a:latin typeface="Arial"/>
                <a:cs typeface="Arial"/>
              </a:rPr>
              <a:t>الأحمر: بقع مستعصية  •  البرتقالي: تجهيزات وخدمات  •  الأخضر: مواقع بحالة جيدة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أبرز العوامل المؤثرة على مستوى النظافة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9079992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9079992" y="1463040"/>
            <a:ext cx="265176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71432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C0392B"/>
                </a:solidFill>
                <a:latin typeface="Arial"/>
                <a:cs typeface="Arial"/>
              </a:rPr>
              <a:t>بقع مستعصية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1432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بقع داكنة وباهتة على أرضيات القاعات والسجاد لا تزول بعد التنظيف بالجلاية.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08775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08775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5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تجهيزات خارج الخدمة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5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صابونات معطلة، وصنابير مغطاة بأكياس، وحوامل ورق معلقة بطريقة مؤقتة.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37559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59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8999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دورات المياه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8999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تراكم أوساخ حول فتحات التصريف وفواصل البلاط، ومخلفات في سلال المهملات.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66343" y="1463040"/>
            <a:ext cx="2651760" cy="329184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66343" y="1463040"/>
            <a:ext cx="265176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57783" y="1737360"/>
            <a:ext cx="24688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000" b="1">
                <a:solidFill>
                  <a:srgbClr val="E08E0B"/>
                </a:solidFill>
                <a:latin typeface="Arial"/>
                <a:cs typeface="Arial"/>
              </a:rPr>
              <a:t>سلال المهملات والمخلفات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7783" y="2560320"/>
            <a:ext cx="2468880" cy="21031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0">
                <a:solidFill>
                  <a:srgbClr val="1B3A5C"/>
                </a:solidFill>
                <a:latin typeface="Arial"/>
                <a:cs typeface="Arial"/>
              </a:rPr>
              <a:t>سلال ممتلئة أو متسخة، وزجاجات ومخلفات متناثرة ومواد مكدسة في الزوايا.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أولاً: بقع مستعصية على أرضيات القاعات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بقع داكنة لا تزول بعد التنظيف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5</a:t>
            </a:r>
          </a:p>
        </p:txBody>
      </p:sp>
      <p:pic>
        <p:nvPicPr>
          <p:cNvPr id="8" name="Picture 7" descr="38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كبيرة داكنة على بلاط القاعة</a:t>
            </a:r>
          </a:p>
        </p:txBody>
      </p:sp>
      <p:pic>
        <p:nvPicPr>
          <p:cNvPr id="11" name="Picture 10" descr="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متناثرة أسفل المقاعد</a:t>
            </a:r>
          </a:p>
        </p:txBody>
      </p:sp>
      <p:pic>
        <p:nvPicPr>
          <p:cNvPr id="14" name="Picture 13" descr="3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متعددة وسط القاعة</a:t>
            </a:r>
          </a:p>
        </p:txBody>
      </p:sp>
      <p:pic>
        <p:nvPicPr>
          <p:cNvPr id="17" name="Picture 16" descr="4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49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متفرقة على الأرضية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بقع كبيرة وواضحة يظهر لونها باهتاً في الصور، وتبقى بعد التنظيف بالجلاية، مما يتطلب معالجة متخصصة.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مستعصية: آثار أقدام وبقع باهتة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لون باهت في الصور يدل على بقع متشربة في البلاط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6</a:t>
            </a:r>
          </a:p>
        </p:txBody>
      </p:sp>
      <p:pic>
        <p:nvPicPr>
          <p:cNvPr id="8" name="Picture 7" descr="4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آثار أقدام على بلاط الدرج</a:t>
            </a:r>
          </a:p>
        </p:txBody>
      </p:sp>
      <p:pic>
        <p:nvPicPr>
          <p:cNvPr id="11" name="Picture 10" descr="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بجوار المقعد</a:t>
            </a:r>
          </a:p>
        </p:txBody>
      </p:sp>
      <p:pic>
        <p:nvPicPr>
          <p:cNvPr id="14" name="Picture 13" descr="5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باهتة في أرضية القاعة</a:t>
            </a:r>
          </a:p>
        </p:txBody>
      </p:sp>
      <p:pic>
        <p:nvPicPr>
          <p:cNvPr id="17" name="Picture 16" descr="74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آثار جريان وبقع في الممر بين المقاعد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اللون الباهت يشير إلى بقع متشربة في مسام البلاط لا تزيلها الجلاية بالمعالجة المعتادة.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أخرى على أرضيات القاعات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بقع مستمرة تتكرر في أكثر من قاعة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7</a:t>
            </a:r>
          </a:p>
        </p:txBody>
      </p:sp>
      <p:pic>
        <p:nvPicPr>
          <p:cNvPr id="8" name="Picture 7" descr="2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بشكل أثر قدم</a:t>
            </a:r>
          </a:p>
        </p:txBody>
      </p:sp>
      <p:pic>
        <p:nvPicPr>
          <p:cNvPr id="11" name="Picture 10" descr="2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متفرقة أسفل المقاعد</a:t>
            </a:r>
          </a:p>
        </p:txBody>
      </p:sp>
      <p:pic>
        <p:nvPicPr>
          <p:cNvPr id="14" name="Picture 13" descr="5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أثر سائل جاف على البلاط</a:t>
            </a:r>
          </a:p>
        </p:txBody>
      </p:sp>
      <p:pic>
        <p:nvPicPr>
          <p:cNvPr id="17" name="Picture 16" descr="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أثر سائل جاف أسفل المقعد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تكرار البقع في أكثر من قاعة يدل على مشكلة مستمرة وليس حالة عابرة.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السجاد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سجاد القاعات والمكاتب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8</a:t>
            </a:r>
          </a:p>
        </p:txBody>
      </p:sp>
      <p:pic>
        <p:nvPicPr>
          <p:cNvPr id="8" name="Picture 7" descr="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على سجاد القاعة</a:t>
            </a:r>
          </a:p>
        </p:txBody>
      </p:sp>
      <p:pic>
        <p:nvPicPr>
          <p:cNvPr id="11" name="Picture 10" descr="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بجوار المقاعد</a:t>
            </a:r>
          </a:p>
        </p:txBody>
      </p:sp>
      <p:pic>
        <p:nvPicPr>
          <p:cNvPr id="14" name="Picture 13" descr="8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باهتة ممتدة على السجاد</a:t>
            </a:r>
          </a:p>
        </p:txBody>
      </p:sp>
      <p:pic>
        <p:nvPicPr>
          <p:cNvPr id="17" name="Picture 16" descr="1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بقعة داكنة أسفل المقعد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السجاد يحتاج غسيلاً عميقاً بالاستخلاص (Extraction) وليس مجرد الكنس أو المسح الجاف.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بقع الأرضيات الملونة والزوايا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تجمع أوساخ وبقع عند أطراف الجدران والزوايا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9</a:t>
            </a:r>
          </a:p>
        </p:txBody>
      </p:sp>
      <p:pic>
        <p:nvPicPr>
          <p:cNvPr id="8" name="Picture 7" descr="1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آثار بيضاء وبقع عند الزاوية</a:t>
            </a:r>
          </a:p>
        </p:txBody>
      </p:sp>
      <p:pic>
        <p:nvPicPr>
          <p:cNvPr id="11" name="Picture 10" descr="19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خطوط وآثار على أرضية بجوار الجدار</a:t>
            </a:r>
          </a:p>
        </p:txBody>
      </p:sp>
      <p:pic>
        <p:nvPicPr>
          <p:cNvPr id="14" name="Picture 13" descr="1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على الأرضية الملونة</a:t>
            </a:r>
          </a:p>
        </p:txBody>
      </p:sp>
      <p:pic>
        <p:nvPicPr>
          <p:cNvPr id="17" name="Picture 16" descr="4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C0392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فتحة تصريف بداخلها أوساخ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الزوايا وأطراف الجدران وفتحات التصريف تحتاج عناية خاصة ضمن جدول النظافة.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ثانياً: صابونات خارج الخدمة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لا تعمل أو مكسورة أو متآكلة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10</a:t>
            </a:r>
          </a:p>
        </p:txBody>
      </p:sp>
      <p:pic>
        <p:nvPicPr>
          <p:cNvPr id="8" name="Picture 7" descr="8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غطاء الصابونة مفتوح ومكسور</a:t>
            </a:r>
          </a:p>
        </p:txBody>
      </p:sp>
      <p:pic>
        <p:nvPicPr>
          <p:cNvPr id="11" name="Picture 10" descr="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صدأ وتسرب عند فتحة الصابونة</a:t>
            </a:r>
          </a:p>
        </p:txBody>
      </p:sp>
      <p:pic>
        <p:nvPicPr>
          <p:cNvPr id="14" name="Picture 13" descr="9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تسرب وتآكل أسفل الصابونة</a:t>
            </a:r>
          </a:p>
        </p:txBody>
      </p:sp>
      <p:pic>
        <p:nvPicPr>
          <p:cNvPr id="17" name="Picture 16" descr="9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صدأ في زر الصابونة ونقص في غطائها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الصابونات التالفة تحرم المستخدمين من غسل اليدين وتخفض مستوى النظافة العامة، وتحتاج صيانة أو استبدالاً.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تجهيزات أخرى معطلة في دورات المياه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حلول مؤقتة بأكياس بدل الإصلاح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11</a:t>
            </a:r>
          </a:p>
        </p:txBody>
      </p:sp>
      <p:pic>
        <p:nvPicPr>
          <p:cNvPr id="8" name="Picture 7" descr="29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صنبور مغطى بكيس (خارج الخدمة)</a:t>
            </a:r>
          </a:p>
        </p:txBody>
      </p:sp>
      <p:pic>
        <p:nvPicPr>
          <p:cNvPr id="11" name="Picture 10" descr="3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35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صنبور مغطى بكيس بجوار علبة مناديل</a:t>
            </a:r>
          </a:p>
        </p:txBody>
      </p:sp>
      <p:pic>
        <p:nvPicPr>
          <p:cNvPr id="14" name="Picture 13" descr="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حامل ورق معلق بكيس أزرق</a:t>
            </a:r>
          </a:p>
        </p:txBody>
      </p:sp>
      <p:pic>
        <p:nvPicPr>
          <p:cNvPr id="17" name="Picture 16" descr="9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حاملا ورق معلقان بأكياس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التغطية بالأكياس والتعليق المؤقت تعني أن التجهيزات معطلة، وتؤثر على المظهر العام وتجربة المستخدم.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ثالثاً: دورات المياه – الأرضيات والتصريف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تراكم أوساخ في فواصل البلاط وحول فتحات التصريف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12</a:t>
            </a:r>
          </a:p>
        </p:txBody>
      </p:sp>
      <p:pic>
        <p:nvPicPr>
          <p:cNvPr id="8" name="Picture 7" descr="6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67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تراكم رواسب بنية حول المرحاض والتصريف</a:t>
            </a:r>
          </a:p>
        </p:txBody>
      </p:sp>
      <p:pic>
        <p:nvPicPr>
          <p:cNvPr id="11" name="Picture 10" descr="8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أوساخ حول قاعدة المرحاض والتصريف</a:t>
            </a:r>
          </a:p>
        </p:txBody>
      </p:sp>
      <p:pic>
        <p:nvPicPr>
          <p:cNvPr id="14" name="Picture 13" descr="83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بقع داكنة على الأرضية</a:t>
            </a:r>
          </a:p>
        </p:txBody>
      </p:sp>
      <p:pic>
        <p:nvPicPr>
          <p:cNvPr id="17" name="Picture 16" descr="5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أوساخ تحت المغسلة وحول التصريف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رواسب فواصل البلاط وأسفل المغاسل تحتاج تنظيفاً عميقاً بمواد مزيلة للترسبات.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دورات المياه – سلال المهملات والمناديل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سلال ممتلئة ومناديل متكدسة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13</a:t>
            </a:r>
          </a:p>
        </p:txBody>
      </p:sp>
      <p:pic>
        <p:nvPicPr>
          <p:cNvPr id="8" name="Picture 7" descr="8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مناديل مليئة أسفل المغسلة</a:t>
            </a:r>
          </a:p>
        </p:txBody>
      </p:sp>
      <p:pic>
        <p:nvPicPr>
          <p:cNvPr id="11" name="Picture 10" descr="8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متراكمة أسفل موزع الورق</a:t>
            </a:r>
          </a:p>
        </p:txBody>
      </p:sp>
      <p:pic>
        <p:nvPicPr>
          <p:cNvPr id="14" name="Picture 13" descr="91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91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ملقاة داخل السلة</a:t>
            </a:r>
          </a:p>
        </p:txBody>
      </p:sp>
      <p:pic>
        <p:nvPicPr>
          <p:cNvPr id="17" name="Picture 16" descr="82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مناديل مستعملة في الحاوية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ينبغي زيادة عدد مرات إفراغ سلال المناديل في دورات المياه أثناء الدوام.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رابعاً: سلال المهملات في القاعات والممرات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سلال متسخة وبقايا أكواب وزجاجات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14</a:t>
            </a:r>
          </a:p>
        </p:txBody>
      </p:sp>
      <p:pic>
        <p:nvPicPr>
          <p:cNvPr id="8" name="Picture 7" descr="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مهملات وبقعة جافة بجانبها</a:t>
            </a:r>
          </a:p>
        </p:txBody>
      </p:sp>
      <p:pic>
        <p:nvPicPr>
          <p:cNvPr id="11" name="Picture 10" descr="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أكواب مستعملة في السلة</a:t>
            </a:r>
          </a:p>
        </p:txBody>
      </p:sp>
      <p:pic>
        <p:nvPicPr>
          <p:cNvPr id="14" name="Picture 13" descr="52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52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سلة متسخة بالداخل</a:t>
            </a:r>
          </a:p>
        </p:txBody>
      </p:sp>
      <p:pic>
        <p:nvPicPr>
          <p:cNvPr id="17" name="Picture 16" descr="7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زجاجات في سلة مهملات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يلزم إفراغ السلال وتغيير أكياسها بانتظام، وغسل السلال المتسخة من الداخل.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خامساً: مخلفات وتخزين غير منظم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مخلفات متناثرة ومواد مخزنة في زوايا غير مخصصة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15</a:t>
            </a:r>
          </a:p>
        </p:txBody>
      </p:sp>
      <p:pic>
        <p:nvPicPr>
          <p:cNvPr id="8" name="Picture 7" descr="77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زجاجات ومخلفات متناثرة حول السلة</a:t>
            </a:r>
          </a:p>
        </p:txBody>
      </p:sp>
      <p:pic>
        <p:nvPicPr>
          <p:cNvPr id="11" name="Picture 10" descr="78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كراتين ومواد مخزنة في زاوية</a:t>
            </a:r>
          </a:p>
        </p:txBody>
      </p:sp>
      <p:pic>
        <p:nvPicPr>
          <p:cNvPr id="14" name="Picture 13" descr="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79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بقايا على سجاد المكتب</a:t>
            </a:r>
          </a:p>
        </p:txBody>
      </p:sp>
      <p:pic>
        <p:nvPicPr>
          <p:cNvPr id="17" name="Picture 16" descr="40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E08E0B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40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بقايا وأتربة أسفل الكرسي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ضرورة تخصيص أماكن للتخزين والحفاظ على خلو الزوايا والأرضيات من المخلفات.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مواقع بحالة جيدة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03504"/>
            <a:ext cx="1115568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C9D6E3"/>
                </a:solidFill>
                <a:latin typeface="Arial"/>
                <a:cs typeface="Arial"/>
              </a:rPr>
              <a:t>نقاط إيجابية تستحق الاستمرار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16</a:t>
            </a:r>
          </a:p>
        </p:txBody>
      </p:sp>
      <p:pic>
        <p:nvPicPr>
          <p:cNvPr id="8" name="Picture 7" descr="6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18854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9" name="Rounded Rectangle 8"/>
          <p:cNvSpPr/>
          <p:nvPr/>
        </p:nvSpPr>
        <p:spPr>
          <a:xfrm>
            <a:off x="11164824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63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18854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ممر نظيف ولامع</a:t>
            </a:r>
          </a:p>
        </p:txBody>
      </p:sp>
      <p:pic>
        <p:nvPicPr>
          <p:cNvPr id="11" name="Picture 10" descr="16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1636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2" name="Rounded Rectangle 11"/>
          <p:cNvSpPr/>
          <p:nvPr/>
        </p:nvSpPr>
        <p:spPr>
          <a:xfrm>
            <a:off x="8277606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31636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أرضية لامعة في ممر المقاعد</a:t>
            </a:r>
          </a:p>
        </p:txBody>
      </p:sp>
      <p:pic>
        <p:nvPicPr>
          <p:cNvPr id="14" name="Picture 13" descr="7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4418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5" name="Rounded Rectangle 14"/>
          <p:cNvSpPr/>
          <p:nvPr/>
        </p:nvSpPr>
        <p:spPr>
          <a:xfrm>
            <a:off x="5390388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75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4418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دورة مياه نظيفة</a:t>
            </a:r>
          </a:p>
        </p:txBody>
      </p:sp>
      <p:pic>
        <p:nvPicPr>
          <p:cNvPr id="17" name="Picture 16" descr="8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200" y="1280160"/>
            <a:ext cx="2612898" cy="2821929"/>
          </a:xfrm>
          <a:prstGeom prst="rect">
            <a:avLst/>
          </a:prstGeom>
          <a:ln w="25400">
            <a:solidFill>
              <a:srgbClr val="2E8B57"/>
            </a:solidFill>
          </a:ln>
        </p:spPr>
      </p:pic>
      <p:sp>
        <p:nvSpPr>
          <p:cNvPr id="18" name="Rounded Rectangle 17"/>
          <p:cNvSpPr/>
          <p:nvPr/>
        </p:nvSpPr>
        <p:spPr>
          <a:xfrm>
            <a:off x="2503170" y="1353312"/>
            <a:ext cx="493776" cy="310896"/>
          </a:xfrm>
          <a:prstGeom prst="round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 rtl="1"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Arial"/>
                <a:cs typeface="Arial"/>
              </a:rPr>
              <a:t>86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4175241"/>
            <a:ext cx="2612898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400" b="0">
                <a:solidFill>
                  <a:srgbClr val="1B3A5C"/>
                </a:solidFill>
                <a:latin typeface="Arial"/>
                <a:cs typeface="Arial"/>
              </a:rPr>
              <a:t>ممر دورات مياه نظيف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486400"/>
            <a:ext cx="11274552" cy="822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1640312" y="5486400"/>
            <a:ext cx="91440" cy="82296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486400"/>
            <a:ext cx="10881360" cy="8229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500" b="1">
                <a:solidFill>
                  <a:srgbClr val="1B3A5C"/>
                </a:solidFill>
                <a:latin typeface="Arial"/>
                <a:cs typeface="Arial"/>
              </a:rPr>
              <a:t>المستوى الجيد في هذه المواقع يؤكد إمكانية الوصول للمستوى المطلوب في باقي المبنى.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توجيهات: عند وجود عائق أمام النظافة أو تدني مستواها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188720"/>
            <a:ext cx="1106424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800" b="1">
                <a:solidFill>
                  <a:srgbClr val="1B3A5C"/>
                </a:solidFill>
                <a:latin typeface="Arial"/>
                <a:cs typeface="Arial"/>
              </a:rPr>
              <a:t>في حال وجود عائق أمام النظافة (تجهيزات معطلة، بقع مستعصية، نقص مواد) أو تدني مستوى النظافة:</a:t>
            </a:r>
          </a:p>
        </p:txBody>
      </p:sp>
      <p:sp>
        <p:nvSpPr>
          <p:cNvPr id="8" name="Rectangle 7"/>
          <p:cNvSpPr/>
          <p:nvPr/>
        </p:nvSpPr>
        <p:spPr>
          <a:xfrm>
            <a:off x="834847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348471" y="2103120"/>
            <a:ext cx="3383280" cy="109728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74351" y="2377440"/>
            <a:ext cx="731520" cy="731520"/>
          </a:xfrm>
          <a:prstGeom prst="ellipse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١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991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1B3A5C"/>
                </a:solidFill>
                <a:latin typeface="Arial"/>
                <a:cs typeface="Arial"/>
              </a:rPr>
              <a:t>رصد الملاحظة وتوثيقها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85632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توثيق العائق أو تدني المستوى بالصور مع تحديد الموقع والتاريخ.</a:t>
            </a:r>
          </a:p>
        </p:txBody>
      </p:sp>
      <p:sp>
        <p:nvSpPr>
          <p:cNvPr id="13" name="Left Arrow 12"/>
          <p:cNvSpPr/>
          <p:nvPr/>
        </p:nvSpPr>
        <p:spPr>
          <a:xfrm>
            <a:off x="7845551" y="3429000"/>
            <a:ext cx="411480" cy="457200"/>
          </a:xfrm>
          <a:prstGeom prst="leftArrow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655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16551" y="2103120"/>
            <a:ext cx="3383280" cy="109728"/>
          </a:xfrm>
          <a:prstGeom prst="rect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742431" y="2377440"/>
            <a:ext cx="731520" cy="731520"/>
          </a:xfrm>
          <a:prstGeom prst="ellipse">
            <a:avLst/>
          </a:prstGeom>
          <a:solidFill>
            <a:srgbClr val="E08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0799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E08E0B"/>
                </a:solidFill>
                <a:latin typeface="Arial"/>
                <a:cs typeface="Arial"/>
              </a:rPr>
              <a:t>الرفع على النظام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53712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يقوم مدير الإدارة برفع بلاغ على النظام المعتمد مع إرفاق الصور والتفاصيل.</a:t>
            </a:r>
          </a:p>
        </p:txBody>
      </p:sp>
      <p:sp>
        <p:nvSpPr>
          <p:cNvPr id="19" name="Left Arrow 18"/>
          <p:cNvSpPr/>
          <p:nvPr/>
        </p:nvSpPr>
        <p:spPr>
          <a:xfrm>
            <a:off x="3913631" y="3429000"/>
            <a:ext cx="411480" cy="457200"/>
          </a:xfrm>
          <a:prstGeom prst="leftArrow">
            <a:avLst/>
          </a:prstGeom>
          <a:solidFill>
            <a:srgbClr val="5560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84631" y="2103120"/>
            <a:ext cx="3383280" cy="3108960"/>
          </a:xfrm>
          <a:prstGeom prst="rect">
            <a:avLst/>
          </a:prstGeom>
          <a:solidFill>
            <a:srgbClr val="F2F5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4631" y="2103120"/>
            <a:ext cx="3383280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10511" y="2377440"/>
            <a:ext cx="731520" cy="731520"/>
          </a:xfrm>
          <a:prstGeom prst="ellipse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1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٣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6071" y="3246120"/>
            <a:ext cx="32004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900" b="1">
                <a:solidFill>
                  <a:srgbClr val="C0392B"/>
                </a:solidFill>
                <a:latin typeface="Arial"/>
                <a:cs typeface="Arial"/>
              </a:rPr>
              <a:t>التواصل مع مدير الخدمات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1791" y="3840480"/>
            <a:ext cx="3108960" cy="12801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1500" b="0">
                <a:solidFill>
                  <a:srgbClr val="1B3A5C"/>
                </a:solidFill>
                <a:latin typeface="Arial"/>
                <a:cs typeface="Arial"/>
              </a:rPr>
              <a:t>في حال عدم حل المشكلة بعد الرفع، يتم التواصل مباشرة مع مدير الخدمات.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5440680"/>
            <a:ext cx="1106424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1700" b="1">
                <a:solidFill>
                  <a:srgbClr val="C0392B"/>
                </a:solidFill>
                <a:latin typeface="Arial"/>
                <a:cs typeface="Arial"/>
              </a:rPr>
              <a:t>الهدف: ألا يبقى أي عائق أو تدنٍّ في مستوى النظافة دون رفع ومتابعة حتى يتم حله.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1795760" y="0"/>
            <a:ext cx="395935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1155680" cy="54864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rtl="1" algn="r">
              <a:spcAft>
                <a:spcPts val="600"/>
              </a:spcAft>
            </a:pPr>
            <a:r>
              <a:rPr sz="2800" b="1">
                <a:solidFill>
                  <a:srgbClr val="FFFFFF"/>
                </a:solidFill>
                <a:latin typeface="Arial"/>
                <a:cs typeface="Arial"/>
              </a:rPr>
              <a:t>التوصيات المقترحة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36576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تقرير النظافة – مبنى ٤  |  ١٧ / ١٠ / ٢٠٢٦م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0" y="6446520"/>
            <a:ext cx="914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l">
              <a:spcAft>
                <a:spcPts val="600"/>
              </a:spcAft>
            </a:pPr>
            <a:r>
              <a:rPr sz="1100" b="0">
                <a:solidFill>
                  <a:srgbClr val="55606B"/>
                </a:solidFill>
                <a:latin typeface="Arial"/>
                <a:cs typeface="Arial"/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28016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1.  معالجة البقع المستعصية بعلاج متخصص (مزيل بقع / تلميع / تنظيف عميق) بدل الاكتفاء بالجلاية.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2.  غسل السجاد غسلاً عميقاً بالاستخلاص.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3.  إصلاح أو استبدال الصابونات المعطلة وحوامل الورق والصنابير الموضوع عليها أكياس.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4.  زيادة مرات إفراغ سلال المهملات والمناديل وتغيير أكياسها خلال الدوام.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5.  تنظيف عميق دوري لفواصل البلاط وفتحات التصريف وأسفل المغاسل في دورات المياه.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6.  تخصيص أماكن للتخزين وإزالة المخلفات والمواد المكدسة من الزوايا.</a:t>
            </a:r>
          </a:p>
          <a:p>
            <a:pPr rtl="1" algn="r">
              <a:spcAft>
                <a:spcPts val="1200"/>
              </a:spcAft>
            </a:pPr>
            <a:r>
              <a:rPr sz="1900" b="0">
                <a:solidFill>
                  <a:srgbClr val="1B3A5C"/>
                </a:solidFill>
                <a:latin typeface="Arial"/>
                <a:cs typeface="Arial"/>
              </a:rPr>
              <a:t>7.  متابعة دورية بالجولات الميدانية وتوثيقها بالصور لقياس التحسن.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023360"/>
            <a:ext cx="12191695" cy="7315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5400" b="1">
                <a:solidFill>
                  <a:srgbClr val="FFFFFF"/>
                </a:solidFill>
                <a:latin typeface="Arial"/>
                <a:cs typeface="Arial"/>
              </a:rPr>
              <a:t>شكراً لكم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200400"/>
            <a:ext cx="10698480" cy="7315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400" b="0">
                <a:solidFill>
                  <a:srgbClr val="C9D6E3"/>
                </a:solidFill>
                <a:latin typeface="Arial"/>
                <a:cs typeface="Arial"/>
              </a:rPr>
              <a:t>تقرير مستوى النظافة – مبنى 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389120"/>
            <a:ext cx="1069848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rtl="1" algn="ctr">
              <a:spcAft>
                <a:spcPts val="600"/>
              </a:spcAft>
            </a:pPr>
            <a:r>
              <a:rPr sz="2000" b="0">
                <a:solidFill>
                  <a:srgbClr val="FFFFFF"/>
                </a:solidFill>
                <a:latin typeface="Arial"/>
                <a:cs typeface="Arial"/>
              </a:rPr>
              <a:t>تاريخ الجولة: ١٧ / ١٠ / ٢٠٢٦م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