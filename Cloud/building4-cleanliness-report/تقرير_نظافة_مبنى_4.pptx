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تقرير مستوى النظافة – مبنى ٤   |   ١٧ / ١٠ / ٢٠٢٦م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394960" y="128016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394960" y="34747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مبنى ٤</a:t>
            </a:r>
            <a:endParaRPr lang="ar-SA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394960" y="448056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العوامل المؤثرة على مستوى النظافة والتوجيهات المقترحة</a:t>
            </a:r>
            <a:endParaRPr lang="ar-SA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5669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العوامل المؤثرة على مستوى النظافة</a:t>
            </a:r>
            <a:endParaRPr lang="en-US" sz="3600" dirty="0"/>
          </a:p>
        </p:txBody>
      </p:sp>
      <p:sp>
        <p:nvSpPr>
          <p:cNvPr id="3" name="Factor card 1"/>
          <p:cNvSpPr/>
          <p:nvPr/>
        </p:nvSpPr>
        <p:spPr>
          <a:xfrm>
            <a:off x="905256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Factor icon bg"/>
          <p:cNvSpPr/>
          <p:nvPr/>
        </p:nvSpPr>
        <p:spPr>
          <a:xfrm>
            <a:off x="10515600" y="182880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Facto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2057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811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الأرضيات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معالجة.</a:t>
            </a:r>
            <a:endParaRPr lang="ar-SA" sz="1600" dirty="0"/>
          </a:p>
        </p:txBody>
      </p:sp>
      <p:sp>
        <p:nvSpPr>
          <p:cNvPr id="8" name="Factor card 2"/>
          <p:cNvSpPr/>
          <p:nvPr/>
        </p:nvSpPr>
        <p:spPr>
          <a:xfrm>
            <a:off x="621792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9" name="Factor icon bg"/>
          <p:cNvSpPr/>
          <p:nvPr/>
        </p:nvSpPr>
        <p:spPr>
          <a:xfrm>
            <a:off x="7680960" y="182880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0" name="Facto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0574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تجهيزات خارج الخدمة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صابونات معطلة وصنابير مغطاة بأكياس وحوامل ورق معلقة بشكل مؤقت.</a:t>
            </a:r>
            <a:endParaRPr lang="ar-SA" sz="1600" dirty="0"/>
          </a:p>
        </p:txBody>
      </p:sp>
      <p:sp>
        <p:nvSpPr>
          <p:cNvPr id="13" name="Factor card 3"/>
          <p:cNvSpPr/>
          <p:nvPr/>
        </p:nvSpPr>
        <p:spPr>
          <a:xfrm>
            <a:off x="338328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4" name="Factor icon bg"/>
          <p:cNvSpPr/>
          <p:nvPr/>
        </p:nvSpPr>
        <p:spPr>
          <a:xfrm>
            <a:off x="4846320" y="182880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5" name="Factor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0574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المياه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361188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متراكمة حول فتحات التصريف وفواصل البلاط وسلال مناديل ممتلئة.</a:t>
            </a:r>
            <a:endParaRPr lang="ar-SA" sz="1600" dirty="0"/>
          </a:p>
        </p:txBody>
      </p:sp>
      <p:sp>
        <p:nvSpPr>
          <p:cNvPr id="18" name="Factor card 4"/>
          <p:cNvSpPr/>
          <p:nvPr/>
        </p:nvSpPr>
        <p:spPr>
          <a:xfrm>
            <a:off x="548640" y="1554480"/>
            <a:ext cx="2560320" cy="42062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9" name="Factor icon bg"/>
          <p:cNvSpPr/>
          <p:nvPr/>
        </p:nvSpPr>
        <p:spPr>
          <a:xfrm>
            <a:off x="2011680" y="182880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20" name="Factor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20574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المهملات والمخلفات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393192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سلال متسخة ومخلفات متناثرة ومواد مكدسة في الزوايا.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على أرضيات القاعات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كبيرة داكنة على بلاط القاعة</a:t>
            </a:r>
            <a:endParaRPr lang="ar-SA" sz="1400" dirty="0"/>
          </a:p>
        </p:txBody>
      </p:sp>
      <p:pic>
        <p:nvPicPr>
          <p:cNvPr id="5" name="Photo 2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متناثرة أسفل المقاعد</a:t>
            </a:r>
            <a:endParaRPr lang="ar-SA" sz="1500" dirty="0"/>
          </a:p>
        </p:txBody>
      </p:sp>
      <p:pic>
        <p:nvPicPr>
          <p:cNvPr id="7" name="Photo 3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متعددة وسط القاعة</a:t>
            </a:r>
            <a:endParaRPr lang="ar-SA" sz="1500" dirty="0"/>
          </a:p>
        </p:txBody>
      </p:sp>
      <p:pic>
        <p:nvPicPr>
          <p:cNvPr id="9" name="Photo 49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متفرقة على الأرضية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البقع قابل للإزالة بالتنظيف، وبعضها متشرب في البلاط ويحتاج معالجة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باهتة متشربة في البلاط</a:t>
            </a:r>
            <a:endParaRPr lang="en-US" sz="3600" dirty="0"/>
          </a:p>
        </p:txBody>
      </p:sp>
      <p:pic>
        <p:nvPicPr>
          <p:cNvPr id="3" name="Photo 42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على بلاط الدرج</a:t>
            </a:r>
            <a:endParaRPr lang="ar-SA" sz="1300" dirty="0"/>
          </a:p>
        </p:txBody>
      </p:sp>
      <p:pic>
        <p:nvPicPr>
          <p:cNvPr id="5" name="Photo 4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بجوار المقعد</a:t>
            </a:r>
            <a:endParaRPr lang="ar-SA" sz="1300" dirty="0"/>
          </a:p>
        </p:txBody>
      </p:sp>
      <p:pic>
        <p:nvPicPr>
          <p:cNvPr id="7" name="Photo 56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في أرضية القاعة</a:t>
            </a:r>
            <a:endParaRPr lang="ar-SA" sz="1300" dirty="0"/>
          </a:p>
        </p:txBody>
      </p:sp>
      <p:pic>
        <p:nvPicPr>
          <p:cNvPr id="9" name="Photo 74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جريان في الممر بين المقاعد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البقع المتشربة في مسام البلاط تحتاج معالجة، بينما القابلة للإزالة يكفيها التنظيف المنتظم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متكررة في أكثر من قاعة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21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متشربة في البلاط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2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متفرقة أسفل المقاعد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5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على البلاط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5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 سائل جاف أسفل المقعد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تكرار البقع في أكثر من قاعة يدل على مشكلة مستمرة وليست حالة عابرة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بقع السجاد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باهتة ممتدة على السجاد</a:t>
            </a:r>
            <a:endParaRPr lang="ar-SA" sz="1400" dirty="0"/>
          </a:p>
        </p:txBody>
      </p:sp>
      <p:pic>
        <p:nvPicPr>
          <p:cNvPr id="5" name="Photo 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على سجاد القاعة</a:t>
            </a:r>
            <a:endParaRPr lang="ar-SA" sz="1500" dirty="0"/>
          </a:p>
        </p:txBody>
      </p:sp>
      <p:pic>
        <p:nvPicPr>
          <p:cNvPr id="7" name="Photo 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بجوار المقاعد</a:t>
            </a:r>
            <a:endParaRPr lang="ar-SA" sz="1500" dirty="0"/>
          </a:p>
        </p:txBody>
      </p:sp>
      <p:pic>
        <p:nvPicPr>
          <p:cNvPr id="9" name="Photo 1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بقعة داكنة أسفل المقعد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السجاد يحتاج غسيلاً عميقاً بالاستخلاص وليس مجرد الكنس أو المسح الجاف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الأرضيات الملونة والزوايا</a:t>
            </a:r>
            <a:endParaRPr lang="en-US" sz="3600" dirty="0"/>
          </a:p>
        </p:txBody>
      </p:sp>
      <p:pic>
        <p:nvPicPr>
          <p:cNvPr id="3" name="Photo 14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بيضاء وبقع عند الزاوية</a:t>
            </a:r>
            <a:endParaRPr lang="ar-SA" sz="1300" dirty="0"/>
          </a:p>
        </p:txBody>
      </p:sp>
      <p:pic>
        <p:nvPicPr>
          <p:cNvPr id="5" name="Photo 19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خطوط وآثار بجوار الجدار</a:t>
            </a:r>
            <a:endParaRPr lang="ar-SA" sz="1300" dirty="0"/>
          </a:p>
        </p:txBody>
      </p:sp>
      <p:pic>
        <p:nvPicPr>
          <p:cNvPr id="7" name="Photo 17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41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فتحة قسام كهرباء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الزوايا وأطراف الجدران وفتحات قسام الكهرباء تحتاج عناية خاصة ضمن جدول النظافة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صابونات خارج الخدمة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9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صابونة تحتاج لصيانة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93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وتسرب، وتحتاج لصيانة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4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تسرب وتآكل، وتحتاج لصيانة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95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صدأ في الزر، وتحتاج لصيانة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الصابونات المعطلة تحرم المستخدمين من غسل اليدين وتحتاج لصيانة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تجهيزات معطلة في دورات المياه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(خارج الخدمة)</a:t>
            </a:r>
            <a:endParaRPr lang="ar-SA" sz="1400" dirty="0"/>
          </a:p>
        </p:txBody>
      </p:sp>
      <p:pic>
        <p:nvPicPr>
          <p:cNvPr id="5" name="Photo 35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صنبور مغطى بكيس بجوار علبة مناديل</a:t>
            </a:r>
            <a:endParaRPr lang="ar-SA" sz="1500" dirty="0"/>
          </a:p>
        </p:txBody>
      </p:sp>
      <p:pic>
        <p:nvPicPr>
          <p:cNvPr id="7" name="Photo 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 ورق معلق بكيس أزرق</a:t>
            </a:r>
            <a:endParaRPr lang="ar-SA" sz="1500" dirty="0"/>
          </a:p>
        </p:txBody>
      </p:sp>
      <p:pic>
        <p:nvPicPr>
          <p:cNvPr id="9" name="Photo 9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حاملا ورق معلقان بأكياس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التغطية بالأكياس والتعليق المؤقت تعني أن التجهيزات معطلة وتؤثر على تجربة المستخدم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الأرضيات والتصريف</a:t>
            </a:r>
            <a:endParaRPr lang="en-US" sz="3600" dirty="0"/>
          </a:p>
        </p:txBody>
      </p:sp>
      <p:pic>
        <p:nvPicPr>
          <p:cNvPr id="3" name="Photo 6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آثار تكلسات بسبب كثرة ترسب المياه حول المرحاض</a:t>
            </a:r>
            <a:endParaRPr lang="ar-SA" sz="1300" dirty="0"/>
          </a:p>
        </p:txBody>
      </p:sp>
      <p:pic>
        <p:nvPicPr>
          <p:cNvPr id="5" name="Photo 84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وآثار تكلسات حول قاعدة المرحاض</a:t>
            </a:r>
            <a:endParaRPr lang="ar-SA" sz="1300" dirty="0"/>
          </a:p>
        </p:txBody>
      </p:sp>
      <p:pic>
        <p:nvPicPr>
          <p:cNvPr id="7" name="Photo 83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بقع داكنة على الأرضية</a:t>
            </a:r>
            <a:endParaRPr lang="ar-SA" sz="1300" dirty="0"/>
          </a:p>
        </p:txBody>
      </p:sp>
      <p:pic>
        <p:nvPicPr>
          <p:cNvPr id="9" name="Photo 53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أوساخ تحت المغسلة وحول التصريف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التكلسات الناتجة عن ترسب المياه ورواسب فواصل البلاط تحتاج تنظيفاً عميقاً بمواد مزيلة للترسبات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دورات المياه: المناديل المتراكمة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905256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Photo 8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2288" y="1481328"/>
            <a:ext cx="2340864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8972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مليئة أسفل المغسلة</a:t>
            </a:r>
            <a:endParaRPr lang="ar-SA" sz="1400" dirty="0"/>
          </a:p>
        </p:txBody>
      </p:sp>
      <p:sp>
        <p:nvSpPr>
          <p:cNvPr id="6" name="Card 2"/>
          <p:cNvSpPr/>
          <p:nvPr/>
        </p:nvSpPr>
        <p:spPr>
          <a:xfrm>
            <a:off x="621792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Photo 8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27648" y="1481328"/>
            <a:ext cx="2340864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5508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متراكمة أسفل موزع الورق</a:t>
            </a:r>
            <a:endParaRPr lang="ar-SA" sz="1400" dirty="0"/>
          </a:p>
        </p:txBody>
      </p:sp>
      <p:sp>
        <p:nvSpPr>
          <p:cNvPr id="9" name="Card 3"/>
          <p:cNvSpPr/>
          <p:nvPr/>
        </p:nvSpPr>
        <p:spPr>
          <a:xfrm>
            <a:off x="338328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Photo 91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93008" y="1481328"/>
            <a:ext cx="2340864" cy="2743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52044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ملقاة داخل الحاوية</a:t>
            </a:r>
            <a:endParaRPr lang="ar-SA" sz="1400" dirty="0"/>
          </a:p>
        </p:txBody>
      </p:sp>
      <p:sp>
        <p:nvSpPr>
          <p:cNvPr id="12" name="Card 4"/>
          <p:cNvSpPr/>
          <p:nvPr/>
        </p:nvSpPr>
        <p:spPr>
          <a:xfrm>
            <a:off x="548640" y="1371600"/>
            <a:ext cx="2560320" cy="379476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9525">
            <a:solidFill>
              <a:srgbClr val="EAF3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pic>
        <p:nvPicPr>
          <p:cNvPr id="13" name="Photo 82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1481328"/>
            <a:ext cx="2340864" cy="2743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مناديل مستعملة في الحاوية</a:t>
            </a:r>
            <a:endParaRPr lang="ar-SA" sz="1400" dirty="0"/>
          </a:p>
        </p:txBody>
      </p:sp>
      <p:sp>
        <p:nvSpPr>
          <p:cNvPr id="15" name="Takeaway card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Takeaway icon bg"/>
          <p:cNvSpPr/>
          <p:nvPr/>
        </p:nvSpPr>
        <p:spPr>
          <a:xfrm>
            <a:off x="10927080" y="5486400"/>
            <a:ext cx="502920" cy="50292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17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614416"/>
            <a:ext cx="246888" cy="2468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22960" y="53492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زيادة عدد مرات التنظيف وإفراغ المناديل أثناء الدوام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سلال المهملات في القاعات والممرات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أكواب مستعملة في السلة</a:t>
            </a:r>
            <a:endParaRPr lang="ar-SA" sz="1400" dirty="0"/>
          </a:p>
        </p:txBody>
      </p:sp>
      <p:pic>
        <p:nvPicPr>
          <p:cNvPr id="5" name="Photo 7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مهملات وبقعة جافة بجانبها</a:t>
            </a:r>
            <a:endParaRPr lang="ar-SA" sz="1500" dirty="0"/>
          </a:p>
        </p:txBody>
      </p:sp>
      <p:pic>
        <p:nvPicPr>
          <p:cNvPr id="7" name="Photo 52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متسخة من الداخل</a:t>
            </a:r>
            <a:endParaRPr lang="ar-SA" sz="1500" dirty="0"/>
          </a:p>
        </p:txBody>
      </p:sp>
      <p:pic>
        <p:nvPicPr>
          <p:cNvPr id="9" name="Photo 7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في سلة المهملات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إفراغ السلال وتغيير أكياسها بانتظام وغسل المتسخ منها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مخلفات وتخزين غير منظم</a:t>
            </a:r>
            <a:endParaRPr lang="en-US" sz="3600" dirty="0"/>
          </a:p>
        </p:txBody>
      </p:sp>
      <p:pic>
        <p:nvPicPr>
          <p:cNvPr id="3" name="Photo 77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03920" y="1371600"/>
            <a:ext cx="3108960" cy="1920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زجاجات ومخلفات متناثرة حول السلة</a:t>
            </a:r>
            <a:endParaRPr lang="ar-SA" sz="1300" dirty="0"/>
          </a:p>
        </p:txBody>
      </p:sp>
      <p:pic>
        <p:nvPicPr>
          <p:cNvPr id="5" name="Photo 78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66360" y="1371600"/>
            <a:ext cx="3108960" cy="19202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166360" y="33558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كراتين ومواد مخزنة في زاوية</a:t>
            </a:r>
            <a:endParaRPr lang="ar-SA" sz="1300" dirty="0"/>
          </a:p>
        </p:txBody>
      </p:sp>
      <p:pic>
        <p:nvPicPr>
          <p:cNvPr id="7" name="Photo 79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03920" y="3886200"/>
            <a:ext cx="310896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50392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على سجاد المكتب</a:t>
            </a:r>
            <a:endParaRPr lang="ar-SA" sz="1300" dirty="0"/>
          </a:p>
        </p:txBody>
      </p:sp>
      <p:pic>
        <p:nvPicPr>
          <p:cNvPr id="9" name="Photo 40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166360" y="3886200"/>
            <a:ext cx="3108960" cy="19202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166360" y="58704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بقايا وأتربة أسفل الكرسي</a:t>
            </a:r>
            <a:endParaRPr lang="ar-SA" sz="1300" dirty="0"/>
          </a:p>
        </p:txBody>
      </p:sp>
      <p:sp>
        <p:nvSpPr>
          <p:cNvPr id="11" name="Icon bg"/>
          <p:cNvSpPr/>
          <p:nvPr/>
        </p:nvSpPr>
        <p:spPr>
          <a:xfrm>
            <a:off x="3749040" y="1463040"/>
            <a:ext cx="822960" cy="82296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169164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48640" y="2514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يلزم تخصيص أماكن للتخزين وإبقاء الزوايا والأرضيات خالية من المخلفات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مواقع بحالة جيدة</a:t>
            </a:r>
            <a:endParaRPr lang="en-US" sz="3600" dirty="0"/>
          </a:p>
        </p:txBody>
      </p:sp>
      <p:pic>
        <p:nvPicPr>
          <p:cNvPr id="3" name="Hero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1371600"/>
            <a:ext cx="4389120" cy="3749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223760" y="5193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نظيف ولامع</a:t>
            </a:r>
            <a:endParaRPr lang="ar-SA" sz="1400" dirty="0"/>
          </a:p>
        </p:txBody>
      </p:sp>
      <p:pic>
        <p:nvPicPr>
          <p:cNvPr id="5" name="Photo 16" descr="صورة من الجولة الميدان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371600"/>
            <a:ext cx="2286000" cy="11887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3716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وجود علبة مياه ملقاة في ممر المقاعد</a:t>
            </a:r>
            <a:endParaRPr lang="ar-SA" sz="1500" dirty="0"/>
          </a:p>
        </p:txBody>
      </p:sp>
      <p:pic>
        <p:nvPicPr>
          <p:cNvPr id="7" name="Photo 75" descr="صورة من الجولة الميداني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2743200"/>
            <a:ext cx="2286000" cy="11887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مياه نظيفة</a:t>
            </a:r>
            <a:endParaRPr lang="ar-SA" sz="1500" dirty="0"/>
          </a:p>
        </p:txBody>
      </p:sp>
      <p:pic>
        <p:nvPicPr>
          <p:cNvPr id="9" name="Photo 86" descr="صورة من الجولة الميداني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63440" y="4114800"/>
            <a:ext cx="2286000" cy="11887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48640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ممر دورات مياه نظيف</a:t>
            </a:r>
            <a:endParaRPr lang="ar-SA" sz="1500" dirty="0"/>
          </a:p>
        </p:txBody>
      </p:sp>
      <p:sp>
        <p:nvSpPr>
          <p:cNvPr id="11" name="Takeaway card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Takeaway icon bg"/>
          <p:cNvSpPr/>
          <p:nvPr/>
        </p:nvSpPr>
        <p:spPr>
          <a:xfrm>
            <a:off x="10927080" y="5692140"/>
            <a:ext cx="502920" cy="50292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3" name="Takeaw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5096" y="5820156"/>
            <a:ext cx="246888" cy="24688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822960" y="5577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المستوى الجيد في هذه المواقع يؤكد إمكانية الوصول للمستوى المطلوب في باقي المبنى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عند وجود عائق أمام النظافة أو تدني مستواها</a:t>
            </a:r>
            <a:endParaRPr lang="en-US" sz="3600" dirty="0"/>
          </a:p>
        </p:txBody>
      </p:sp>
      <p:sp>
        <p:nvSpPr>
          <p:cNvPr id="3" name="Step card 1"/>
          <p:cNvSpPr/>
          <p:nvPr/>
        </p:nvSpPr>
        <p:spPr>
          <a:xfrm>
            <a:off x="841248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Step icon bg"/>
          <p:cNvSpPr/>
          <p:nvPr/>
        </p:nvSpPr>
        <p:spPr>
          <a:xfrm>
            <a:off x="9555480" y="1965960"/>
            <a:ext cx="914400" cy="91440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5" name="Step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1512" y="22219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9536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الملاحظة وتوثيقها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توثيق العائق أو تدني المستوى بالصور مع تحديد الموقع والتاريخ.</a:t>
            </a:r>
            <a:endParaRPr lang="ar-SA" sz="1500" dirty="0"/>
          </a:p>
        </p:txBody>
      </p:sp>
      <p:sp>
        <p:nvSpPr>
          <p:cNvPr id="8" name="Arrow 1"/>
          <p:cNvSpPr/>
          <p:nvPr/>
        </p:nvSpPr>
        <p:spPr>
          <a:xfrm>
            <a:off x="777240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9" name="Step card 2"/>
          <p:cNvSpPr/>
          <p:nvPr/>
        </p:nvSpPr>
        <p:spPr>
          <a:xfrm>
            <a:off x="448056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0" name="Step icon bg"/>
          <p:cNvSpPr/>
          <p:nvPr/>
        </p:nvSpPr>
        <p:spPr>
          <a:xfrm>
            <a:off x="5623560" y="1965960"/>
            <a:ext cx="914400" cy="91440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1" name="Step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22219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النظام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يقوم مدير الإدارة برفع بلاغ على النظام مع إرفاق الصور والتفاصيل.</a:t>
            </a:r>
            <a:endParaRPr lang="ar-SA" sz="1500" dirty="0"/>
          </a:p>
        </p:txBody>
      </p:sp>
      <p:sp>
        <p:nvSpPr>
          <p:cNvPr id="14" name="Arrow 2"/>
          <p:cNvSpPr/>
          <p:nvPr/>
        </p:nvSpPr>
        <p:spPr>
          <a:xfrm>
            <a:off x="3840480" y="3154680"/>
            <a:ext cx="548640" cy="457200"/>
          </a:xfrm>
          <a:prstGeom prst="leftArrow">
            <a:avLst/>
          </a:prstGeom>
          <a:solidFill>
            <a:schemeClr val="accent5"/>
          </a:solidFill>
          <a:ln w="12700">
            <a:solidFill>
              <a:srgbClr val="5F7A80"/>
            </a:solidFill>
            <a:prstDash val="solid"/>
          </a:ln>
        </p:spPr>
      </p:sp>
      <p:sp>
        <p:nvSpPr>
          <p:cNvPr id="15" name="Step card 3"/>
          <p:cNvSpPr/>
          <p:nvPr/>
        </p:nvSpPr>
        <p:spPr>
          <a:xfrm>
            <a:off x="548640" y="1645920"/>
            <a:ext cx="3200400" cy="356616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Step icon bg"/>
          <p:cNvSpPr/>
          <p:nvPr/>
        </p:nvSpPr>
        <p:spPr>
          <a:xfrm>
            <a:off x="1691640" y="1965960"/>
            <a:ext cx="914400" cy="91440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17" name="Ste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72" y="22219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31089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مدير الخدمات</a:t>
            </a:r>
            <a:endParaRPr lang="ar-SA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40233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لم تُحل المشكلة بعد الرفع، يتم التواصل مباشرة مع مدير الخدمات.</a:t>
            </a:r>
            <a:endParaRPr lang="ar-SA" sz="1500" dirty="0"/>
          </a:p>
        </p:txBody>
      </p:sp>
      <p:sp>
        <p:nvSpPr>
          <p:cNvPr id="20" name="Takeaway card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1" name="Takeaway icon bg"/>
          <p:cNvSpPr/>
          <p:nvPr/>
        </p:nvSpPr>
        <p:spPr>
          <a:xfrm>
            <a:off x="10927080" y="5577840"/>
            <a:ext cx="502920" cy="50292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22" name="Takeawa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6" y="5705856"/>
            <a:ext cx="246888" cy="24688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" y="54406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ألا يبقى أي عائق أو تدنٍّ في مستوى النظافة دون رفع ومتابعة حتى يُحل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التوصيات المقترحة</a:t>
            </a:r>
            <a:endParaRPr lang="en-US" sz="3600" dirty="0"/>
          </a:p>
        </p:txBody>
      </p:sp>
      <p:sp>
        <p:nvSpPr>
          <p:cNvPr id="3" name="Rec card 1"/>
          <p:cNvSpPr/>
          <p:nvPr/>
        </p:nvSpPr>
        <p:spPr>
          <a:xfrm>
            <a:off x="621792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4" name="Rec icon bg"/>
          <p:cNvSpPr/>
          <p:nvPr/>
        </p:nvSpPr>
        <p:spPr>
          <a:xfrm>
            <a:off x="1065276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5" name="Re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16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إزالة البقع القابلة للإزالة بالتنظيف المنتظم، ومعالجة البقع المتشربة في البلاط</a:t>
            </a:r>
            <a:endParaRPr lang="ar-SA" sz="1600" dirty="0"/>
          </a:p>
        </p:txBody>
      </p:sp>
      <p:sp>
        <p:nvSpPr>
          <p:cNvPr id="7" name="Rec card 2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8" name="Rec icon bg"/>
          <p:cNvSpPr/>
          <p:nvPr/>
        </p:nvSpPr>
        <p:spPr>
          <a:xfrm>
            <a:off x="4983480" y="1828800"/>
            <a:ext cx="640080" cy="640080"/>
          </a:xfrm>
          <a:prstGeom prst="ellipse">
            <a:avLst/>
          </a:prstGeom>
          <a:solidFill>
            <a:srgbClr val="9A031E"/>
          </a:solidFill>
          <a:ln w="12700">
            <a:solidFill>
              <a:srgbClr val="9A031E"/>
            </a:solidFill>
            <a:prstDash val="solid"/>
          </a:ln>
        </p:spPr>
      </p:sp>
      <p:pic>
        <p:nvPicPr>
          <p:cNvPr id="9" name="Re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01168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14630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غسل السجاد غسلاً عميقاً بالاستخلاص</a:t>
            </a:r>
            <a:endParaRPr lang="ar-SA" sz="1600" dirty="0"/>
          </a:p>
        </p:txBody>
      </p:sp>
      <p:sp>
        <p:nvSpPr>
          <p:cNvPr id="11" name="Rec card 3"/>
          <p:cNvSpPr/>
          <p:nvPr/>
        </p:nvSpPr>
        <p:spPr>
          <a:xfrm>
            <a:off x="621792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2" name="Rec icon bg"/>
          <p:cNvSpPr/>
          <p:nvPr/>
        </p:nvSpPr>
        <p:spPr>
          <a:xfrm>
            <a:off x="10652760" y="3429000"/>
            <a:ext cx="640080" cy="640080"/>
          </a:xfrm>
          <a:prstGeom prst="ellipse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pic>
        <p:nvPicPr>
          <p:cNvPr id="13" name="Re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3611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4652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إصلاح أو استبدال الصابونات والصنابير وحوامل الورق المعطلة</a:t>
            </a:r>
            <a:endParaRPr lang="ar-SA" sz="1600" dirty="0"/>
          </a:p>
        </p:txBody>
      </p:sp>
      <p:sp>
        <p:nvSpPr>
          <p:cNvPr id="15" name="Rec card 4"/>
          <p:cNvSpPr/>
          <p:nvPr/>
        </p:nvSpPr>
        <p:spPr>
          <a:xfrm>
            <a:off x="548640" y="30632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16" name="Rec icon bg"/>
          <p:cNvSpPr/>
          <p:nvPr/>
        </p:nvSpPr>
        <p:spPr>
          <a:xfrm>
            <a:off x="4983480" y="3429000"/>
            <a:ext cx="640080" cy="640080"/>
          </a:xfrm>
          <a:prstGeom prst="ellipse">
            <a:avLst/>
          </a:prstGeom>
          <a:solidFill>
            <a:srgbClr val="2E8B6E"/>
          </a:solidFill>
          <a:ln w="12700">
            <a:solidFill>
              <a:srgbClr val="2E8B6E"/>
            </a:solidFill>
            <a:prstDash val="solid"/>
          </a:ln>
        </p:spPr>
      </p:sp>
      <p:pic>
        <p:nvPicPr>
          <p:cNvPr id="17" name="Rec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3063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زيادة مرات إفراغ سلال المهملات والمناديل وتغيير أكياسها خلال الدوام</a:t>
            </a:r>
            <a:endParaRPr lang="ar-SA" sz="1600" dirty="0"/>
          </a:p>
        </p:txBody>
      </p:sp>
      <p:sp>
        <p:nvSpPr>
          <p:cNvPr id="19" name="Rec card 5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0" name="Rec icon bg"/>
          <p:cNvSpPr/>
          <p:nvPr/>
        </p:nvSpPr>
        <p:spPr>
          <a:xfrm>
            <a:off x="1065276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1" name="Rec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40" y="52120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44652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تنظيف عميق دوري لفواصل البلاط وفتحات التصريف في دورات المياه</a:t>
            </a:r>
            <a:endParaRPr lang="ar-SA" sz="1600" dirty="0"/>
          </a:p>
        </p:txBody>
      </p:sp>
      <p:sp>
        <p:nvSpPr>
          <p:cNvPr id="23" name="Rec card 6"/>
          <p:cNvSpPr/>
          <p:nvPr/>
        </p:nvSpPr>
        <p:spPr>
          <a:xfrm>
            <a:off x="548640" y="4663440"/>
            <a:ext cx="53949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EAF3F3"/>
            </a:solidFill>
            <a:prstDash val="solid"/>
          </a:ln>
        </p:spPr>
      </p:sp>
      <p:sp>
        <p:nvSpPr>
          <p:cNvPr id="24" name="Rec icon bg"/>
          <p:cNvSpPr/>
          <p:nvPr/>
        </p:nvSpPr>
        <p:spPr>
          <a:xfrm>
            <a:off x="4983480" y="5029200"/>
            <a:ext cx="640080" cy="640080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pic>
        <p:nvPicPr>
          <p:cNvPr id="25" name="Rec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521208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77240" y="4663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جولات ميدانية دورية موثقة بالصور لمتابعة التحسن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F7A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hoto" descr="صورة من الجولة الميداني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679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3774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شكراً لكم</a:t>
            </a:r>
            <a:endParaRPr lang="ar-SA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5661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تقرير مستوى النظافة – مبنى ٤</a:t>
            </a:r>
            <a:endParaRPr lang="ar-SA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297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الجولة: ١٧ / ١٠ / ٢٠٢٦م</a:t>
            </a:r>
            <a:endParaRPr lang="ar-SA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an Building">
  <a:themeElements>
    <a:clrScheme name="Clean Building">
      <a:dk1>
        <a:srgbClr val="12313A"/>
      </a:dk1>
      <a:lt1>
        <a:srgbClr val="FFFFFF"/>
      </a:lt1>
      <a:dk2>
        <a:srgbClr val="0F4C5C"/>
      </a:dk2>
      <a:lt2>
        <a:srgbClr val="EAF3F3"/>
      </a:lt2>
      <a:accent1>
        <a:srgbClr val="0F4C5C"/>
      </a:accent1>
      <a:accent2>
        <a:srgbClr val="E36414"/>
      </a:accent2>
      <a:accent3>
        <a:srgbClr val="2E8B6E"/>
      </a:accent3>
      <a:accent4>
        <a:srgbClr val="9A031E"/>
      </a:accent4>
      <a:accent5>
        <a:srgbClr val="5F7A80"/>
      </a:accent5>
      <a:accent6>
        <a:srgbClr val="F4A261"/>
      </a:accent6>
      <a:hlink>
        <a:srgbClr val="0F4C5C"/>
      </a:hlink>
      <a:folHlink>
        <a:srgbClr val="5F7A80"/>
      </a:folHlink>
    </a:clrScheme>
    <a:fontScheme name="Clean Build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مستوى النظافة – مبنى ٤</dc:title>
  <dc:subject>PptxGenJS Presentation</dc:subject>
  <dc:creator>PptxGenJS</dc:creator>
  <cp:lastModifiedBy>PptxGenJS</cp:lastModifiedBy>
  <cp:revision>1</cp:revision>
  <dcterms:created xsi:type="dcterms:W3CDTF">2026-10-17T20:15:24Z</dcterms:created>
  <dcterms:modified xsi:type="dcterms:W3CDTF">2026-10-17T20:15:24Z</dcterms:modified>
</cp:coreProperties>
</file>