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تقرير مستوى النظافة – مبنى ٤   |   ١٧ / ١٠ / ٢٠٢٦م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94960" y="128016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مستوى النظافة</a:t>
            </a:r>
            <a:endParaRPr lang="ar-SA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394960" y="3474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مبنى ٤</a:t>
            </a:r>
            <a:endParaRPr lang="ar-SA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4480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العوامل المؤثرة على مستوى النظافة والتوجيهات المقترحة</a:t>
            </a:r>
            <a:endParaRPr lang="ar-SA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5669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الجولة: ١٧ / ١٠ / ٢٠٢٦م</a:t>
            </a:r>
            <a:endParaRPr lang="ar-SA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العوامل المؤثرة على مستوى النظافة</a:t>
            </a:r>
            <a:endParaRPr lang="en-US" sz="3600" dirty="0"/>
          </a:p>
        </p:txBody>
      </p:sp>
      <p:sp>
        <p:nvSpPr>
          <p:cNvPr id="3" name="Factor card 1"/>
          <p:cNvSpPr/>
          <p:nvPr/>
        </p:nvSpPr>
        <p:spPr>
          <a:xfrm>
            <a:off x="905256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4" name="Factor icon bg"/>
          <p:cNvSpPr/>
          <p:nvPr/>
        </p:nvSpPr>
        <p:spPr>
          <a:xfrm>
            <a:off x="10515600" y="1828800"/>
            <a:ext cx="822960" cy="82296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5" name="Facto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81160" y="2926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على الأرضيات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بعض البقع قابل للإزالة بالتنظيف، وبعضها متشرب في البلاط ويحتاج معالجة.</a:t>
            </a:r>
            <a:endParaRPr lang="ar-SA" sz="1600" dirty="0"/>
          </a:p>
        </p:txBody>
      </p:sp>
      <p:sp>
        <p:nvSpPr>
          <p:cNvPr id="8" name="Factor card 2"/>
          <p:cNvSpPr/>
          <p:nvPr/>
        </p:nvSpPr>
        <p:spPr>
          <a:xfrm>
            <a:off x="621792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9" name="Factor icon bg"/>
          <p:cNvSpPr/>
          <p:nvPr/>
        </p:nvSpPr>
        <p:spPr>
          <a:xfrm>
            <a:off x="7680960" y="1828800"/>
            <a:ext cx="822960" cy="8229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0" name="Facto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2926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تجهيزات خارج الخدمة</a:t>
            </a:r>
            <a:endParaRPr lang="ar-SA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صابونات معطلة وصنابير مغطاة بأكياس وحوامل ورق معلقة بشكل مؤقت.</a:t>
            </a:r>
            <a:endParaRPr lang="ar-SA" sz="1600" dirty="0"/>
          </a:p>
        </p:txBody>
      </p:sp>
      <p:sp>
        <p:nvSpPr>
          <p:cNvPr id="13" name="Factor card 3"/>
          <p:cNvSpPr/>
          <p:nvPr/>
        </p:nvSpPr>
        <p:spPr>
          <a:xfrm>
            <a:off x="338328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4" name="Factor icon bg"/>
          <p:cNvSpPr/>
          <p:nvPr/>
        </p:nvSpPr>
        <p:spPr>
          <a:xfrm>
            <a:off x="4846320" y="1828800"/>
            <a:ext cx="822960" cy="8229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5" name="Facto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057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11880" y="2926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دورات المياه</a:t>
            </a:r>
            <a:endParaRPr lang="ar-SA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361188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أوساخ متراكمة حول فتحات التصريف وفواصل البلاط ومناديل متراكمة.</a:t>
            </a:r>
            <a:endParaRPr lang="ar-SA" sz="1600" dirty="0"/>
          </a:p>
        </p:txBody>
      </p:sp>
      <p:sp>
        <p:nvSpPr>
          <p:cNvPr id="18" name="Factor card 4"/>
          <p:cNvSpPr/>
          <p:nvPr/>
        </p:nvSpPr>
        <p:spPr>
          <a:xfrm>
            <a:off x="548640" y="155448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9" name="Factor icon bg"/>
          <p:cNvSpPr/>
          <p:nvPr/>
        </p:nvSpPr>
        <p:spPr>
          <a:xfrm>
            <a:off x="2011680" y="1828800"/>
            <a:ext cx="822960" cy="82296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20" name="Facto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2057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926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المهملات والمخلفات</a:t>
            </a:r>
            <a:endParaRPr lang="ar-SA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931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سلال متسخة ومخلفات متناثرة ومواد مكدسة في الزوايا.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بقع على أرضيات القاعات</a:t>
            </a:r>
            <a:endParaRPr lang="en-US" sz="3600" dirty="0"/>
          </a:p>
        </p:txBody>
      </p:sp>
      <p:pic>
        <p:nvPicPr>
          <p:cNvPr id="3" name="Hero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371600"/>
            <a:ext cx="438912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5193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بقعة كبيرة داكنة على بلاط القاعة</a:t>
            </a:r>
            <a:endParaRPr lang="ar-SA" sz="1400" dirty="0"/>
          </a:p>
        </p:txBody>
      </p:sp>
      <p:pic>
        <p:nvPicPr>
          <p:cNvPr id="5" name="Photo 27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71600"/>
            <a:ext cx="228600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بقعة متناثرة أسفل المقاعد</a:t>
            </a:r>
            <a:endParaRPr lang="ar-SA" sz="1500" dirty="0"/>
          </a:p>
        </p:txBody>
      </p:sp>
      <p:pic>
        <p:nvPicPr>
          <p:cNvPr id="7" name="Photo 31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2743200"/>
            <a:ext cx="228600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متعددة وسط القاعة</a:t>
            </a:r>
            <a:endParaRPr lang="ar-SA" sz="1500" dirty="0"/>
          </a:p>
        </p:txBody>
      </p:sp>
      <p:pic>
        <p:nvPicPr>
          <p:cNvPr id="9" name="Photo 49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4114800"/>
            <a:ext cx="228600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داكنة متفرقة على الأرضية</a:t>
            </a:r>
            <a:endParaRPr lang="ar-SA" sz="15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Takeaway icon bg"/>
          <p:cNvSpPr/>
          <p:nvPr/>
        </p:nvSpPr>
        <p:spPr>
          <a:xfrm>
            <a:off x="10927080" y="5692140"/>
            <a:ext cx="502920" cy="50292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13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820156"/>
            <a:ext cx="246888" cy="2468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296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بعض البقع قابل للإزالة بالتنظيف، وبعضها متشرب في البلاط ويحتاج معالجة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بقع باهتة متشربة في البلاط</a:t>
            </a:r>
            <a:endParaRPr lang="en-US" sz="3600" dirty="0"/>
          </a:p>
        </p:txBody>
      </p:sp>
      <p:pic>
        <p:nvPicPr>
          <p:cNvPr id="3" name="Photo 42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371600"/>
            <a:ext cx="310896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على بلاط الدرج</a:t>
            </a:r>
            <a:endParaRPr lang="ar-SA" sz="1300" dirty="0"/>
          </a:p>
        </p:txBody>
      </p:sp>
      <p:pic>
        <p:nvPicPr>
          <p:cNvPr id="5" name="Photo 43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371600"/>
            <a:ext cx="310896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6636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بقعة داكنة بجوار المقعد</a:t>
            </a:r>
            <a:endParaRPr lang="ar-SA" sz="1300" dirty="0"/>
          </a:p>
        </p:txBody>
      </p:sp>
      <p:pic>
        <p:nvPicPr>
          <p:cNvPr id="7" name="Photo 56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3886200"/>
            <a:ext cx="310896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باهتة في أرضية القاعة</a:t>
            </a:r>
            <a:endParaRPr lang="ar-SA" sz="1300" dirty="0"/>
          </a:p>
        </p:txBody>
      </p:sp>
      <p:pic>
        <p:nvPicPr>
          <p:cNvPr id="9" name="Photo 74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66360" y="3886200"/>
            <a:ext cx="3108960" cy="19202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16636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مستعصية بحاجة إلى صيانة</a:t>
            </a:r>
            <a:endParaRPr lang="ar-SA" sz="1300" dirty="0"/>
          </a:p>
        </p:txBody>
      </p:sp>
      <p:sp>
        <p:nvSpPr>
          <p:cNvPr id="11" name="Icon bg"/>
          <p:cNvSpPr/>
          <p:nvPr/>
        </p:nvSpPr>
        <p:spPr>
          <a:xfrm>
            <a:off x="3749040" y="1463040"/>
            <a:ext cx="822960" cy="82296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69164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48640" y="2514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البقع المتشربة في مسام البلاط تحتاج معالجة، بينما القابلة للإزالة يكفيها التنظيف المنتظم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بقع متكررة في أكثر من قاعة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905256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Photo 21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62288" y="1481328"/>
            <a:ext cx="2340864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8972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بقعة متشربة في البلاط</a:t>
            </a:r>
            <a:endParaRPr lang="ar-SA" sz="1400" dirty="0"/>
          </a:p>
        </p:txBody>
      </p:sp>
      <p:sp>
        <p:nvSpPr>
          <p:cNvPr id="6" name="Card 2"/>
          <p:cNvSpPr/>
          <p:nvPr/>
        </p:nvSpPr>
        <p:spPr>
          <a:xfrm>
            <a:off x="621792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Photo 25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481328"/>
            <a:ext cx="2340864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متفرقة أسفل المقاعد</a:t>
            </a:r>
            <a:endParaRPr lang="ar-SA" sz="1400" dirty="0"/>
          </a:p>
        </p:txBody>
      </p:sp>
      <p:sp>
        <p:nvSpPr>
          <p:cNvPr id="9" name="Card 3"/>
          <p:cNvSpPr/>
          <p:nvPr/>
        </p:nvSpPr>
        <p:spPr>
          <a:xfrm>
            <a:off x="338328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Photo 51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93008" y="1481328"/>
            <a:ext cx="2340864" cy="2743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52044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سائل جاف على البلاط</a:t>
            </a:r>
            <a:endParaRPr lang="ar-SA" sz="1400" dirty="0"/>
          </a:p>
        </p:txBody>
      </p:sp>
      <p:sp>
        <p:nvSpPr>
          <p:cNvPr id="12" name="Card 4"/>
          <p:cNvSpPr/>
          <p:nvPr/>
        </p:nvSpPr>
        <p:spPr>
          <a:xfrm>
            <a:off x="54864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Photo 55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" y="1481328"/>
            <a:ext cx="2340864" cy="2743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80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سائل جاف أسفل المقعد</a:t>
            </a:r>
            <a:endParaRPr lang="ar-SA" sz="1400" dirty="0"/>
          </a:p>
        </p:txBody>
      </p:sp>
      <p:sp>
        <p:nvSpPr>
          <p:cNvPr id="15" name="Takeaway 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6" name="Takeaway icon bg"/>
          <p:cNvSpPr/>
          <p:nvPr/>
        </p:nvSpPr>
        <p:spPr>
          <a:xfrm>
            <a:off x="10927080" y="5486400"/>
            <a:ext cx="502920" cy="50292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17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614416"/>
            <a:ext cx="246888" cy="24688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29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تكرار البقع في أكثر من قاعة يدل على مشكلة مستمرة وليست حالة عابرة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بقع السجاد</a:t>
            </a:r>
            <a:endParaRPr lang="en-US" sz="3600" dirty="0"/>
          </a:p>
        </p:txBody>
      </p:sp>
      <p:pic>
        <p:nvPicPr>
          <p:cNvPr id="3" name="Hero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371600"/>
            <a:ext cx="438912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5193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باهتة ممتدة على السجاد</a:t>
            </a:r>
            <a:endParaRPr lang="ar-SA" sz="1400" dirty="0"/>
          </a:p>
        </p:txBody>
      </p:sp>
      <p:pic>
        <p:nvPicPr>
          <p:cNvPr id="5" name="Photo 3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71600"/>
            <a:ext cx="228600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بقعة داكنة على سجاد القاعة</a:t>
            </a:r>
            <a:endParaRPr lang="ar-SA" sz="1500" dirty="0"/>
          </a:p>
        </p:txBody>
      </p:sp>
      <p:pic>
        <p:nvPicPr>
          <p:cNvPr id="7" name="Photo 4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2743200"/>
            <a:ext cx="228600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بجوار المقاعد</a:t>
            </a:r>
            <a:endParaRPr lang="ar-SA" sz="1500" dirty="0"/>
          </a:p>
        </p:txBody>
      </p:sp>
      <p:pic>
        <p:nvPicPr>
          <p:cNvPr id="9" name="Photo 10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4114800"/>
            <a:ext cx="228600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بقعة داكنة أسفل المقعد</a:t>
            </a:r>
            <a:endParaRPr lang="ar-SA" sz="15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Takeaway icon bg"/>
          <p:cNvSpPr/>
          <p:nvPr/>
        </p:nvSpPr>
        <p:spPr>
          <a:xfrm>
            <a:off x="10927080" y="5692140"/>
            <a:ext cx="502920" cy="50292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13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820156"/>
            <a:ext cx="246888" cy="2468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296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السجاد يحتاج غسيلاً عميقاً بالاستخلاص وليس مجرد الكنس أو المسح الجاف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الأرضيات الملونة والزوايا</a:t>
            </a:r>
            <a:endParaRPr lang="en-US" sz="3600" dirty="0"/>
          </a:p>
        </p:txBody>
      </p:sp>
      <p:pic>
        <p:nvPicPr>
          <p:cNvPr id="3" name="Photo 14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371600"/>
            <a:ext cx="310896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آثار بيضاء وبقع عند الزاوية</a:t>
            </a:r>
            <a:endParaRPr lang="ar-SA" sz="1300" dirty="0"/>
          </a:p>
        </p:txBody>
      </p:sp>
      <p:pic>
        <p:nvPicPr>
          <p:cNvPr id="5" name="Photo 19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371600"/>
            <a:ext cx="310896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6636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خطوط وآثار بجوار الجدار</a:t>
            </a:r>
            <a:endParaRPr lang="ar-SA" sz="1300" dirty="0"/>
          </a:p>
        </p:txBody>
      </p:sp>
      <p:pic>
        <p:nvPicPr>
          <p:cNvPr id="7" name="Photo 17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3886200"/>
            <a:ext cx="310896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داكنة على الأرضية</a:t>
            </a:r>
            <a:endParaRPr lang="ar-SA" sz="1300" dirty="0"/>
          </a:p>
        </p:txBody>
      </p:sp>
      <p:pic>
        <p:nvPicPr>
          <p:cNvPr id="9" name="Photo 41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66360" y="3886200"/>
            <a:ext cx="3108960" cy="19202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16636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فتحة كهرباء</a:t>
            </a:r>
            <a:endParaRPr lang="ar-SA" sz="1300" dirty="0"/>
          </a:p>
        </p:txBody>
      </p:sp>
      <p:sp>
        <p:nvSpPr>
          <p:cNvPr id="11" name="Icon bg"/>
          <p:cNvSpPr/>
          <p:nvPr/>
        </p:nvSpPr>
        <p:spPr>
          <a:xfrm>
            <a:off x="3749040" y="1463040"/>
            <a:ext cx="822960" cy="8229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69164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48640" y="2514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الزوايا وأطراف الجدران وفتحات الكهرباء تحتاج عناية خاصة ضمن جدول النظافة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صابونات خارج الخدمة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8107680" y="1371600"/>
            <a:ext cx="3505200" cy="3794760"/>
          </a:xfrm>
          <a:prstGeom prst="roundRect">
            <a:avLst>
              <a:gd name="adj" fmla="val 3130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Photo 89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17408" y="1481328"/>
            <a:ext cx="3285744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44840" y="4315968"/>
            <a:ext cx="323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صابونة تحتاج لصيانة</a:t>
            </a:r>
            <a:endParaRPr lang="ar-SA" sz="1400" dirty="0"/>
          </a:p>
        </p:txBody>
      </p:sp>
      <p:sp>
        <p:nvSpPr>
          <p:cNvPr id="6" name="Card 2"/>
          <p:cNvSpPr/>
          <p:nvPr/>
        </p:nvSpPr>
        <p:spPr>
          <a:xfrm>
            <a:off x="4328160" y="1371600"/>
            <a:ext cx="3505200" cy="3794760"/>
          </a:xfrm>
          <a:prstGeom prst="roundRect">
            <a:avLst>
              <a:gd name="adj" fmla="val 3130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Photo 93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7888" y="1481328"/>
            <a:ext cx="3285744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65320" y="4315968"/>
            <a:ext cx="323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صدأ وتسرب، وتحتاج لصيانة</a:t>
            </a:r>
            <a:endParaRPr lang="ar-SA" sz="1400" dirty="0"/>
          </a:p>
        </p:txBody>
      </p:sp>
      <p:sp>
        <p:nvSpPr>
          <p:cNvPr id="9" name="Card 3"/>
          <p:cNvSpPr/>
          <p:nvPr/>
        </p:nvSpPr>
        <p:spPr>
          <a:xfrm>
            <a:off x="548640" y="1371600"/>
            <a:ext cx="3505200" cy="3794760"/>
          </a:xfrm>
          <a:prstGeom prst="roundRect">
            <a:avLst>
              <a:gd name="adj" fmla="val 3130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Photo 95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1481328"/>
            <a:ext cx="3285744" cy="2743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5800" y="4315968"/>
            <a:ext cx="323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صدأ في الزر، وتحتاج لصيانة</a:t>
            </a:r>
            <a:endParaRPr lang="ar-SA" sz="1400" dirty="0"/>
          </a:p>
        </p:txBody>
      </p:sp>
      <p:sp>
        <p:nvSpPr>
          <p:cNvPr id="12" name="Takeaway 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3" name="Takeaway icon bg"/>
          <p:cNvSpPr/>
          <p:nvPr/>
        </p:nvSpPr>
        <p:spPr>
          <a:xfrm>
            <a:off x="10927080" y="548640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4" name="Takeawa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5614416"/>
            <a:ext cx="246888" cy="2468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الصابونات المعطلة تحرم المستخدمين من غسل اليدين وتحتاج لصيانة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تجهيزات معطلة في دورات المياه</a:t>
            </a:r>
            <a:endParaRPr lang="en-US" sz="3600" dirty="0"/>
          </a:p>
        </p:txBody>
      </p:sp>
      <p:pic>
        <p:nvPicPr>
          <p:cNvPr id="3" name="Hero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371600"/>
            <a:ext cx="438912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5193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صنبور مغطى بكيس (خارج الخدمة)</a:t>
            </a:r>
            <a:endParaRPr lang="ar-SA" sz="1400" dirty="0"/>
          </a:p>
        </p:txBody>
      </p:sp>
      <p:pic>
        <p:nvPicPr>
          <p:cNvPr id="5" name="Photo 35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71600"/>
            <a:ext cx="228600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صنبور مغطى بكيس بجوار علبة مناديل</a:t>
            </a:r>
            <a:endParaRPr lang="ar-SA" sz="1500" dirty="0"/>
          </a:p>
        </p:txBody>
      </p:sp>
      <p:pic>
        <p:nvPicPr>
          <p:cNvPr id="7" name="Photo 2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2743200"/>
            <a:ext cx="228600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حامل ورق معلق بكيس أزرق</a:t>
            </a:r>
            <a:endParaRPr lang="ar-SA" sz="1500" dirty="0"/>
          </a:p>
        </p:txBody>
      </p:sp>
      <p:pic>
        <p:nvPicPr>
          <p:cNvPr id="9" name="Photo 92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4114800"/>
            <a:ext cx="228600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حاملا ورق معلقان بأكياس</a:t>
            </a:r>
            <a:endParaRPr lang="ar-SA" sz="15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Takeaway icon bg"/>
          <p:cNvSpPr/>
          <p:nvPr/>
        </p:nvSpPr>
        <p:spPr>
          <a:xfrm>
            <a:off x="10927080" y="569214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3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820156"/>
            <a:ext cx="246888" cy="2468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296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التغطية بالأكياس والتعليق المؤقت تعني أن التجهيزات معطلة وتؤثر على تجربة المستخدم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دورات المياه: الأرضيات والتصريف</a:t>
            </a:r>
            <a:endParaRPr lang="en-US" sz="3600" dirty="0"/>
          </a:p>
        </p:txBody>
      </p:sp>
      <p:pic>
        <p:nvPicPr>
          <p:cNvPr id="3" name="Photo 67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371600"/>
            <a:ext cx="310896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آثار تكلسات بسبب كثرة ترسب المياه حول المرحاض</a:t>
            </a:r>
            <a:endParaRPr lang="ar-SA" sz="1300" dirty="0"/>
          </a:p>
        </p:txBody>
      </p:sp>
      <p:pic>
        <p:nvPicPr>
          <p:cNvPr id="5" name="Photo 84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371600"/>
            <a:ext cx="310896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6636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أوساخ وآثار تكلسات حول قاعدة المرحاض</a:t>
            </a:r>
            <a:endParaRPr lang="ar-SA" sz="1300" dirty="0"/>
          </a:p>
        </p:txBody>
      </p:sp>
      <p:pic>
        <p:nvPicPr>
          <p:cNvPr id="7" name="Photo 83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3886200"/>
            <a:ext cx="310896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بقع داكنة على الأرضية</a:t>
            </a:r>
            <a:endParaRPr lang="ar-SA" sz="1300" dirty="0"/>
          </a:p>
        </p:txBody>
      </p:sp>
      <p:pic>
        <p:nvPicPr>
          <p:cNvPr id="9" name="Photo 53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66360" y="3886200"/>
            <a:ext cx="3108960" cy="19202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16636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أوساخ حول التصريف</a:t>
            </a:r>
            <a:endParaRPr lang="ar-SA" sz="1300" dirty="0"/>
          </a:p>
        </p:txBody>
      </p:sp>
      <p:sp>
        <p:nvSpPr>
          <p:cNvPr id="11" name="Icon bg"/>
          <p:cNvSpPr/>
          <p:nvPr/>
        </p:nvSpPr>
        <p:spPr>
          <a:xfrm>
            <a:off x="3749040" y="1463040"/>
            <a:ext cx="822960" cy="8229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69164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48640" y="2514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التكلسات الناتجة عن ترسب المياه ورواسب فواصل البلاط تحتاج تنظيفاً عميقاً بمواد مزيلة للترسبات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دورات المياه: المناديل المتراكمة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905256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Photo 87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62288" y="1481328"/>
            <a:ext cx="2340864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8972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مناديل مليئة</a:t>
            </a:r>
            <a:endParaRPr lang="ar-SA" sz="1400" dirty="0"/>
          </a:p>
        </p:txBody>
      </p:sp>
      <p:sp>
        <p:nvSpPr>
          <p:cNvPr id="6" name="Card 2"/>
          <p:cNvSpPr/>
          <p:nvPr/>
        </p:nvSpPr>
        <p:spPr>
          <a:xfrm>
            <a:off x="621792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Photo 88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481328"/>
            <a:ext cx="2340864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مناديل متراكمة أسفل موزع الورق</a:t>
            </a:r>
            <a:endParaRPr lang="ar-SA" sz="1400" dirty="0"/>
          </a:p>
        </p:txBody>
      </p:sp>
      <p:sp>
        <p:nvSpPr>
          <p:cNvPr id="9" name="Card 3"/>
          <p:cNvSpPr/>
          <p:nvPr/>
        </p:nvSpPr>
        <p:spPr>
          <a:xfrm>
            <a:off x="338328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Photo 91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93008" y="1481328"/>
            <a:ext cx="2340864" cy="2743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52044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مناديل ملقاة داخل الحاوية</a:t>
            </a:r>
            <a:endParaRPr lang="ar-SA" sz="1400" dirty="0"/>
          </a:p>
        </p:txBody>
      </p:sp>
      <p:sp>
        <p:nvSpPr>
          <p:cNvPr id="12" name="Card 4"/>
          <p:cNvSpPr/>
          <p:nvPr/>
        </p:nvSpPr>
        <p:spPr>
          <a:xfrm>
            <a:off x="54864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Photo 82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" y="1481328"/>
            <a:ext cx="2340864" cy="2743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80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مناديل مستعملة في الحاوية</a:t>
            </a:r>
            <a:endParaRPr lang="ar-SA" sz="1400" dirty="0"/>
          </a:p>
        </p:txBody>
      </p:sp>
      <p:sp>
        <p:nvSpPr>
          <p:cNvPr id="15" name="Takeaway 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6" name="Takeaway icon bg"/>
          <p:cNvSpPr/>
          <p:nvPr/>
        </p:nvSpPr>
        <p:spPr>
          <a:xfrm>
            <a:off x="10927080" y="548640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7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614416"/>
            <a:ext cx="246888" cy="24688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29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يلزم زيادة عدد مرات التنظيف وإفراغ المناديل أثناء الدوام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سلال المهملات في القاعات والممرات</a:t>
            </a:r>
            <a:endParaRPr lang="en-US" sz="3600" dirty="0"/>
          </a:p>
        </p:txBody>
      </p:sp>
      <p:pic>
        <p:nvPicPr>
          <p:cNvPr id="3" name="Hero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371600"/>
            <a:ext cx="438912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5193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أكواب مستعملة في السلة</a:t>
            </a:r>
            <a:endParaRPr lang="ar-SA" sz="1400" dirty="0"/>
          </a:p>
        </p:txBody>
      </p:sp>
      <p:pic>
        <p:nvPicPr>
          <p:cNvPr id="5" name="Photo 7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71600"/>
            <a:ext cx="228600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سلة مهملات وبقعة جافة بجانبها</a:t>
            </a:r>
            <a:endParaRPr lang="ar-SA" sz="1500" dirty="0"/>
          </a:p>
        </p:txBody>
      </p:sp>
      <p:pic>
        <p:nvPicPr>
          <p:cNvPr id="7" name="Photo 52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2743200"/>
            <a:ext cx="228600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سلة متسخة من الداخل</a:t>
            </a:r>
            <a:endParaRPr lang="ar-SA" sz="1500" dirty="0"/>
          </a:p>
        </p:txBody>
      </p:sp>
      <p:pic>
        <p:nvPicPr>
          <p:cNvPr id="9" name="Photo 70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4114800"/>
            <a:ext cx="228600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مخلفات في سلة المهملات</a:t>
            </a:r>
            <a:endParaRPr lang="ar-SA" sz="15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Takeaway icon bg"/>
          <p:cNvSpPr/>
          <p:nvPr/>
        </p:nvSpPr>
        <p:spPr>
          <a:xfrm>
            <a:off x="10927080" y="5692140"/>
            <a:ext cx="502920" cy="50292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3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820156"/>
            <a:ext cx="246888" cy="2468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296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يلزم إفراغ السلال وتغيير أكياسها بانتظام وغسل المتسخ منها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مخلفات وتخزين غير منظم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9619488" y="1371600"/>
            <a:ext cx="1993392" cy="379476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Photo 77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29216" y="1481328"/>
            <a:ext cx="1773936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56648" y="431596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مخلفات متناثرة حول السلة</a:t>
            </a:r>
            <a:endParaRPr lang="ar-SA" sz="1400" dirty="0"/>
          </a:p>
        </p:txBody>
      </p:sp>
      <p:sp>
        <p:nvSpPr>
          <p:cNvPr id="6" name="Card 2"/>
          <p:cNvSpPr/>
          <p:nvPr/>
        </p:nvSpPr>
        <p:spPr>
          <a:xfrm>
            <a:off x="7351776" y="1371600"/>
            <a:ext cx="1993392" cy="379476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Photo 78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61504" y="1481328"/>
            <a:ext cx="1773936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88936" y="431596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كراتين ومواد مخزنة في زاوية</a:t>
            </a:r>
            <a:endParaRPr lang="ar-SA" sz="1400" dirty="0"/>
          </a:p>
        </p:txBody>
      </p:sp>
      <p:sp>
        <p:nvSpPr>
          <p:cNvPr id="9" name="Card 3"/>
          <p:cNvSpPr/>
          <p:nvPr/>
        </p:nvSpPr>
        <p:spPr>
          <a:xfrm>
            <a:off x="5084064" y="1371600"/>
            <a:ext cx="1993392" cy="379476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Photo 79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93792" y="1481328"/>
            <a:ext cx="1773936" cy="2743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21224" y="431596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بقايا على سجاد المكتب</a:t>
            </a:r>
            <a:endParaRPr lang="ar-SA" sz="1400" dirty="0"/>
          </a:p>
        </p:txBody>
      </p:sp>
      <p:sp>
        <p:nvSpPr>
          <p:cNvPr id="12" name="Card 4"/>
          <p:cNvSpPr/>
          <p:nvPr/>
        </p:nvSpPr>
        <p:spPr>
          <a:xfrm>
            <a:off x="2816352" y="1371600"/>
            <a:ext cx="1993392" cy="379476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Photo 40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26080" y="1481328"/>
            <a:ext cx="1773936" cy="2743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953512" y="431596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بقايا وأتربة أسفل الكرسي</a:t>
            </a:r>
            <a:endParaRPr lang="ar-SA" sz="1400" dirty="0"/>
          </a:p>
        </p:txBody>
      </p:sp>
      <p:sp>
        <p:nvSpPr>
          <p:cNvPr id="15" name="Card 5"/>
          <p:cNvSpPr/>
          <p:nvPr/>
        </p:nvSpPr>
        <p:spPr>
          <a:xfrm>
            <a:off x="548640" y="1371600"/>
            <a:ext cx="1993392" cy="379476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Photo 16" descr="صورة من الجولة الميدانية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8368" y="1481328"/>
            <a:ext cx="1773936" cy="27432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85800" y="431596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علبة مياه ملقاة في ممر المقاعد</a:t>
            </a:r>
            <a:endParaRPr lang="ar-SA" sz="1400" dirty="0"/>
          </a:p>
        </p:txBody>
      </p:sp>
      <p:sp>
        <p:nvSpPr>
          <p:cNvPr id="18" name="Takeaway 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9" name="Takeaway icon bg"/>
          <p:cNvSpPr/>
          <p:nvPr/>
        </p:nvSpPr>
        <p:spPr>
          <a:xfrm>
            <a:off x="10927080" y="5486400"/>
            <a:ext cx="502920" cy="50292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20" name="Takeawa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5096" y="5614416"/>
            <a:ext cx="246888" cy="24688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يلزم تخصيص أماكن للتخزين وإبقاء الزوايا والأرضيات خالية من المخلفات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مواقع بحالة جيدة: الممرات ودورات المياه</a:t>
            </a:r>
            <a:endParaRPr lang="en-US" sz="3600" dirty="0"/>
          </a:p>
        </p:txBody>
      </p:sp>
      <p:pic>
        <p:nvPicPr>
          <p:cNvPr id="3" name="Hero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371600"/>
            <a:ext cx="438912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5193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ممر نظيف ولامع</a:t>
            </a:r>
            <a:endParaRPr lang="ar-SA" sz="1400" dirty="0"/>
          </a:p>
        </p:txBody>
      </p:sp>
      <p:pic>
        <p:nvPicPr>
          <p:cNvPr id="5" name="Photo 75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371600"/>
            <a:ext cx="228600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مياه نظيفة</a:t>
            </a:r>
            <a:endParaRPr lang="ar-SA" sz="1500" dirty="0"/>
          </a:p>
        </p:txBody>
      </p:sp>
      <p:pic>
        <p:nvPicPr>
          <p:cNvPr id="7" name="Photo 86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2743200"/>
            <a:ext cx="228600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ممر دورات مياه نظيف</a:t>
            </a:r>
            <a:endParaRPr lang="ar-SA" sz="1500" dirty="0"/>
          </a:p>
        </p:txBody>
      </p:sp>
      <p:pic>
        <p:nvPicPr>
          <p:cNvPr id="9" name="Photo 72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4114800"/>
            <a:ext cx="228600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أرضية دورة مياه نظيفة</a:t>
            </a:r>
            <a:endParaRPr lang="ar-SA" sz="15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Takeaway icon bg"/>
          <p:cNvSpPr/>
          <p:nvPr/>
        </p:nvSpPr>
        <p:spPr>
          <a:xfrm>
            <a:off x="10927080" y="5692140"/>
            <a:ext cx="502920" cy="50292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3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820156"/>
            <a:ext cx="246888" cy="2468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296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المستوى الجيد في هذه المواقع يؤكد إمكانية الوصول للمستوى المطلوب في باقي المبنى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مواقع بحالة جيدة: القاعات الدراسية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905256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Photo 98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62288" y="1481328"/>
            <a:ext cx="2340864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8972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مرتبة وأرضية نظيفة</a:t>
            </a:r>
            <a:endParaRPr lang="ar-SA" sz="1400" dirty="0"/>
          </a:p>
        </p:txBody>
      </p:sp>
      <p:sp>
        <p:nvSpPr>
          <p:cNvPr id="6" name="Card 2"/>
          <p:cNvSpPr/>
          <p:nvPr/>
        </p:nvSpPr>
        <p:spPr>
          <a:xfrm>
            <a:off x="621792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Photo 99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481328"/>
            <a:ext cx="2340864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واسعة بحالة جيدة</a:t>
            </a:r>
            <a:endParaRPr lang="ar-SA" sz="1400" dirty="0"/>
          </a:p>
        </p:txBody>
      </p:sp>
      <p:sp>
        <p:nvSpPr>
          <p:cNvPr id="9" name="Card 3"/>
          <p:cNvSpPr/>
          <p:nvPr/>
        </p:nvSpPr>
        <p:spPr>
          <a:xfrm>
            <a:off x="338328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Photo 100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93008" y="1481328"/>
            <a:ext cx="2340864" cy="2743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52044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نظيفة ومرتبة</a:t>
            </a:r>
            <a:endParaRPr lang="ar-SA" sz="1400" dirty="0"/>
          </a:p>
        </p:txBody>
      </p:sp>
      <p:sp>
        <p:nvSpPr>
          <p:cNvPr id="12" name="Card 4"/>
          <p:cNvSpPr/>
          <p:nvPr/>
        </p:nvSpPr>
        <p:spPr>
          <a:xfrm>
            <a:off x="548640" y="1371600"/>
            <a:ext cx="2560320" cy="37947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AF3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Photo 101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" y="1481328"/>
            <a:ext cx="2340864" cy="2743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80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بأرضية نظيفة</a:t>
            </a:r>
            <a:endParaRPr lang="ar-SA" sz="1400" dirty="0"/>
          </a:p>
        </p:txBody>
      </p:sp>
      <p:sp>
        <p:nvSpPr>
          <p:cNvPr id="15" name="Takeaway 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6" name="Takeaway icon bg"/>
          <p:cNvSpPr/>
          <p:nvPr/>
        </p:nvSpPr>
        <p:spPr>
          <a:xfrm>
            <a:off x="10927080" y="5486400"/>
            <a:ext cx="502920" cy="50292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7" name="Takeaw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5614416"/>
            <a:ext cx="246888" cy="24688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296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قاعات مرتبة بأرضيات نظيفة، وهو المستوى المطلوب في جميع القاعات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مواقع بحالة جيدة: قاعات أخرى</a:t>
            </a:r>
            <a:endParaRPr lang="en-US" sz="3600" dirty="0"/>
          </a:p>
        </p:txBody>
      </p:sp>
      <p:pic>
        <p:nvPicPr>
          <p:cNvPr id="3" name="Photo 102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371600"/>
            <a:ext cx="310896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مرتبة وأرضية نظيفة</a:t>
            </a:r>
            <a:endParaRPr lang="ar-SA" sz="1300" dirty="0"/>
          </a:p>
        </p:txBody>
      </p:sp>
      <p:pic>
        <p:nvPicPr>
          <p:cNvPr id="5" name="Photo 103" descr="صورة من الجولة الميدان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371600"/>
            <a:ext cx="310896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66360" y="3355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نظيفة ومنظمة</a:t>
            </a:r>
            <a:endParaRPr lang="ar-SA" sz="1300" dirty="0"/>
          </a:p>
        </p:txBody>
      </p:sp>
      <p:pic>
        <p:nvPicPr>
          <p:cNvPr id="7" name="Photo 104" descr="صورة من الجولة الميداني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3886200"/>
            <a:ext cx="3108960" cy="1920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بحالة جيدة</a:t>
            </a:r>
            <a:endParaRPr lang="ar-SA" sz="1300" dirty="0"/>
          </a:p>
        </p:txBody>
      </p:sp>
      <p:pic>
        <p:nvPicPr>
          <p:cNvPr id="9" name="Photo 59" descr="صورة من الجولة الميداني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66360" y="3886200"/>
            <a:ext cx="3108960" cy="19202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166360" y="5870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مرتبة ونظيفة</a:t>
            </a:r>
            <a:endParaRPr lang="ar-SA" sz="1300" dirty="0"/>
          </a:p>
        </p:txBody>
      </p:sp>
      <p:sp>
        <p:nvSpPr>
          <p:cNvPr id="11" name="Icon bg"/>
          <p:cNvSpPr/>
          <p:nvPr/>
        </p:nvSpPr>
        <p:spPr>
          <a:xfrm>
            <a:off x="3749040" y="1463040"/>
            <a:ext cx="822960" cy="82296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69164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48640" y="2514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الحفاظ على هذا المستوى في جميع القاعات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عند وجود عائق أمام النظافة أو تدني مستواها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8412480" y="164592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4" name="Step icon bg"/>
          <p:cNvSpPr/>
          <p:nvPr/>
        </p:nvSpPr>
        <p:spPr>
          <a:xfrm>
            <a:off x="9555480" y="1965960"/>
            <a:ext cx="914400" cy="9144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5" name="Ste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2" y="22219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9536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الملاحظة وتوثيقها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4023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العائق أو تدني المستوى بالصور مع تحديد الموقع والتاريخ.</a:t>
            </a:r>
            <a:endParaRPr lang="ar-SA" sz="1500" dirty="0"/>
          </a:p>
        </p:txBody>
      </p:sp>
      <p:sp>
        <p:nvSpPr>
          <p:cNvPr id="8" name="Arrow 1"/>
          <p:cNvSpPr/>
          <p:nvPr/>
        </p:nvSpPr>
        <p:spPr>
          <a:xfrm>
            <a:off x="7772400" y="3154680"/>
            <a:ext cx="548640" cy="457200"/>
          </a:xfrm>
          <a:prstGeom prst="leftArrow">
            <a:avLst/>
          </a:prstGeom>
          <a:solidFill>
            <a:schemeClr val="accent5"/>
          </a:solidFill>
          <a:ln w="12700">
            <a:solidFill>
              <a:srgbClr val="5F7A80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4480560" y="164592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0" name="Step icon bg"/>
          <p:cNvSpPr/>
          <p:nvPr/>
        </p:nvSpPr>
        <p:spPr>
          <a:xfrm>
            <a:off x="5623560" y="1965960"/>
            <a:ext cx="914400" cy="9144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1" name="Ste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2219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الرفع على النظام</a:t>
            </a:r>
            <a:endParaRPr lang="ar-SA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023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يقوم مدير الإدارة برفع بلاغ على النظام مع إرفاق الصور والتفاصيل.</a:t>
            </a:r>
            <a:endParaRPr lang="ar-SA" sz="1500" dirty="0"/>
          </a:p>
        </p:txBody>
      </p:sp>
      <p:sp>
        <p:nvSpPr>
          <p:cNvPr id="14" name="Arrow 2"/>
          <p:cNvSpPr/>
          <p:nvPr/>
        </p:nvSpPr>
        <p:spPr>
          <a:xfrm>
            <a:off x="3840480" y="3154680"/>
            <a:ext cx="548640" cy="457200"/>
          </a:xfrm>
          <a:prstGeom prst="leftArrow">
            <a:avLst/>
          </a:prstGeom>
          <a:solidFill>
            <a:schemeClr val="accent5"/>
          </a:solidFill>
          <a:ln w="12700">
            <a:solidFill>
              <a:srgbClr val="5F7A80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548640" y="164592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6" name="Step icon bg"/>
          <p:cNvSpPr/>
          <p:nvPr/>
        </p:nvSpPr>
        <p:spPr>
          <a:xfrm>
            <a:off x="1691640" y="1965960"/>
            <a:ext cx="914400" cy="91440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17" name="Ste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مع مدير الخدمات</a:t>
            </a:r>
            <a:endParaRPr lang="ar-SA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023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لم تُحل المشكلة بعد الرفع، يتم التواصل مباشرة مع مدير الخدمات.</a:t>
            </a:r>
            <a:endParaRPr lang="ar-SA" sz="1500" dirty="0"/>
          </a:p>
        </p:txBody>
      </p:sp>
      <p:sp>
        <p:nvSpPr>
          <p:cNvPr id="20" name="Takeaway card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21" name="Takeaway icon bg"/>
          <p:cNvSpPr/>
          <p:nvPr/>
        </p:nvSpPr>
        <p:spPr>
          <a:xfrm>
            <a:off x="10927080" y="5577840"/>
            <a:ext cx="502920" cy="50292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22" name="Takeawa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570585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ألا يبقى أي عائق أو تدنٍّ في مستوى النظافة دون رفع ومتابعة حتى يُحل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التوصيات المقترحة</a:t>
            </a:r>
            <a:endParaRPr lang="en-US" sz="3600" dirty="0"/>
          </a:p>
        </p:txBody>
      </p:sp>
      <p:sp>
        <p:nvSpPr>
          <p:cNvPr id="3" name="Rec card 1"/>
          <p:cNvSpPr/>
          <p:nvPr/>
        </p:nvSpPr>
        <p:spPr>
          <a:xfrm>
            <a:off x="621792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4" name="Rec icon bg"/>
          <p:cNvSpPr/>
          <p:nvPr/>
        </p:nvSpPr>
        <p:spPr>
          <a:xfrm>
            <a:off x="10652760" y="1828800"/>
            <a:ext cx="640080" cy="64008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5" name="Re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4630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إزالة البقع القابلة للإزالة بالتنظيف المنتظم، ومعالجة البقع المتشربة في البلاط</a:t>
            </a:r>
            <a:endParaRPr lang="ar-SA" sz="1600" dirty="0"/>
          </a:p>
        </p:txBody>
      </p:sp>
      <p:sp>
        <p:nvSpPr>
          <p:cNvPr id="7" name="Rec card 2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8" name="Rec icon bg"/>
          <p:cNvSpPr/>
          <p:nvPr/>
        </p:nvSpPr>
        <p:spPr>
          <a:xfrm>
            <a:off x="4983480" y="1828800"/>
            <a:ext cx="640080" cy="640080"/>
          </a:xfrm>
          <a:prstGeom prst="ellipse">
            <a:avLst/>
          </a:prstGeom>
          <a:solidFill>
            <a:srgbClr val="9A031E"/>
          </a:solidFill>
          <a:ln w="12700">
            <a:solidFill>
              <a:srgbClr val="9A031E"/>
            </a:solidFill>
            <a:prstDash val="solid"/>
          </a:ln>
        </p:spPr>
      </p:sp>
      <p:pic>
        <p:nvPicPr>
          <p:cNvPr id="9" name="Re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0116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14630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غسل السجاد غسلاً عميقاً بالاستخلاص</a:t>
            </a:r>
            <a:endParaRPr lang="ar-SA" sz="1600" dirty="0"/>
          </a:p>
        </p:txBody>
      </p:sp>
      <p:sp>
        <p:nvSpPr>
          <p:cNvPr id="11" name="Rec card 3"/>
          <p:cNvSpPr/>
          <p:nvPr/>
        </p:nvSpPr>
        <p:spPr>
          <a:xfrm>
            <a:off x="6217920" y="30632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Rec icon bg"/>
          <p:cNvSpPr/>
          <p:nvPr/>
        </p:nvSpPr>
        <p:spPr>
          <a:xfrm>
            <a:off x="10652760" y="3429000"/>
            <a:ext cx="640080" cy="64008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pic>
        <p:nvPicPr>
          <p:cNvPr id="13" name="Re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3611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46520" y="30632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إصلاح أو استبدال الصابونات والصنابير وحوامل الورق المعطلة</a:t>
            </a:r>
            <a:endParaRPr lang="ar-SA" sz="1600" dirty="0"/>
          </a:p>
        </p:txBody>
      </p:sp>
      <p:sp>
        <p:nvSpPr>
          <p:cNvPr id="15" name="Rec card 4"/>
          <p:cNvSpPr/>
          <p:nvPr/>
        </p:nvSpPr>
        <p:spPr>
          <a:xfrm>
            <a:off x="548640" y="30632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6" name="Rec icon bg"/>
          <p:cNvSpPr/>
          <p:nvPr/>
        </p:nvSpPr>
        <p:spPr>
          <a:xfrm>
            <a:off x="4983480" y="3429000"/>
            <a:ext cx="640080" cy="64008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7" name="Re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6118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30632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زيادة مرات إفراغ سلال المهملات والمناديل وتغيير أكياسها خلال الدوام</a:t>
            </a:r>
            <a:endParaRPr lang="ar-SA" sz="1600" dirty="0"/>
          </a:p>
        </p:txBody>
      </p:sp>
      <p:sp>
        <p:nvSpPr>
          <p:cNvPr id="19" name="Rec card 5"/>
          <p:cNvSpPr/>
          <p:nvPr/>
        </p:nvSpPr>
        <p:spPr>
          <a:xfrm>
            <a:off x="621792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20" name="Rec icon bg"/>
          <p:cNvSpPr/>
          <p:nvPr/>
        </p:nvSpPr>
        <p:spPr>
          <a:xfrm>
            <a:off x="10652760" y="50292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Re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52120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4663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عميق دوري لفواصل البلاط وفتحات التصريف في دورات المياه</a:t>
            </a:r>
            <a:endParaRPr lang="ar-SA" sz="1600" dirty="0"/>
          </a:p>
        </p:txBody>
      </p:sp>
      <p:sp>
        <p:nvSpPr>
          <p:cNvPr id="23" name="Rec card 6"/>
          <p:cNvSpPr/>
          <p:nvPr/>
        </p:nvSpPr>
        <p:spPr>
          <a:xfrm>
            <a:off x="54864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24" name="Rec icon bg"/>
          <p:cNvSpPr/>
          <p:nvPr/>
        </p:nvSpPr>
        <p:spPr>
          <a:xfrm>
            <a:off x="4983480" y="50292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5" name="Re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521208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7240" y="4663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جولات ميدانية دورية موثقة بالصور لمتابعة التحسن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hoto" descr="صورة من الجولة الميدان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3774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ar-SA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566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مستوى النظافة – مبنى ٤</a:t>
            </a:r>
            <a:endParaRPr lang="ar-SA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الجولة: ١٧ / ١٠ / ٢٠٢٦م</a:t>
            </a:r>
            <a:endParaRPr lang="ar-SA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Building">
  <a:themeElements>
    <a:clrScheme name="Clean Building">
      <a:dk1>
        <a:srgbClr val="12313A"/>
      </a:dk1>
      <a:lt1>
        <a:srgbClr val="FFFFFF"/>
      </a:lt1>
      <a:dk2>
        <a:srgbClr val="0F4C5C"/>
      </a:dk2>
      <a:lt2>
        <a:srgbClr val="EAF3F3"/>
      </a:lt2>
      <a:accent1>
        <a:srgbClr val="0F4C5C"/>
      </a:accent1>
      <a:accent2>
        <a:srgbClr val="E36414"/>
      </a:accent2>
      <a:accent3>
        <a:srgbClr val="2E8B6E"/>
      </a:accent3>
      <a:accent4>
        <a:srgbClr val="9A031E"/>
      </a:accent4>
      <a:accent5>
        <a:srgbClr val="5F7A80"/>
      </a:accent5>
      <a:accent6>
        <a:srgbClr val="F4A261"/>
      </a:accent6>
      <a:hlink>
        <a:srgbClr val="0F4C5C"/>
      </a:hlink>
      <a:folHlink>
        <a:srgbClr val="5F7A80"/>
      </a:folHlink>
    </a:clrScheme>
    <a:fontScheme name="Clean Build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مستوى النظافة – مبنى ٤</dc:title>
  <dc:subject>PptxGenJS Presentation</dc:subject>
  <dc:creator>PptxGenJS</dc:creator>
  <cp:lastModifiedBy>PptxGenJS</cp:lastModifiedBy>
  <cp:revision>1</cp:revision>
  <dcterms:created xsi:type="dcterms:W3CDTF">2026-10-17T20:48:21Z</dcterms:created>
  <dcterms:modified xsi:type="dcterms:W3CDTF">2026-10-17T20:48:21Z</dcterms:modified>
</cp:coreProperties>
</file>