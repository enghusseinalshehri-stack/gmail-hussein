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  <a:cs typeface="Arial"/>
              </a:rPr>
              <a:t>تقرير مستوى النظافة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0">
                <a:solidFill>
                  <a:srgbClr val="C9D6E3"/>
                </a:solidFill>
                <a:latin typeface="Arial"/>
                <a:cs typeface="Arial"/>
              </a:rPr>
              <a:t>مبنى ٤ – العوامل المؤثرة على النظافة والتوجيهات المقترحة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Arial"/>
                <a:cs typeface="Arial"/>
              </a:rPr>
              <a:t>تاريخ الجولة: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800" b="0">
                <a:solidFill>
                  <a:srgbClr val="C9D6E3"/>
                </a:solidFill>
                <a:latin typeface="Arial"/>
                <a:cs typeface="Arial"/>
              </a:rPr>
              <a:t>جولة ميدانية موثّقة بالصور  •  ٩٦ صورة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نطاق الجولة ومنهجية التقرير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جولة ميدانية على مبنى ٤ بتاريخ ١٧ / ١٠ / ٢٠٢٦م، وتم التقاط الصور في المساء.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شملت الجولة القاعات الدراسية، والمعامل ومكاتب أعضاء هيئة التدريس، والممرات، ودورات المياه.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تم توثيق الوضع الراهن بـ ٩٦ صورة، رُوجعت جميعها وصُنّفت إلى ٨ فئات.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التصنيف بصري، وقد تُظهر الصورة الواحدة أكثر من ملاحظة؛ فصُنّفت حسب الملاحظة الأبرز.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الصور باهتة اللون في مواضع البقع تدل على بقع مستعصية لا تزول حتى بعد التنظيف بالجلاية.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يختم التقرير بآلية رفع الملاحظات والتوجيهات للإدارات المعنية.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ملخص نتائج التصنيف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توزيع الصور الـ ٩٦ حسب نوع الملاحظة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325880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بقع مستعصية على أرضيات القاعات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399032"/>
            <a:ext cx="548640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25880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  <a:cs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892807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بقع على السجاد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2068" y="1965960"/>
            <a:ext cx="945931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1988" y="1892807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459736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بقع وآثار على الأرضيات الملونة والزوايا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12068" y="2532888"/>
            <a:ext cx="945931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1988" y="2459736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026664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تجهيزات معطلة / خارج الخدمة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24" y="3099816"/>
            <a:ext cx="1702675" cy="3657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5244" y="3026664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E08E0B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593592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أرضيات وتصريف دورات المياه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33696" y="3666744"/>
            <a:ext cx="1324303" cy="3657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3616" y="3593592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E08E0B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160520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سلال مهملات ممتلئة أو متسخة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87765" y="4233672"/>
            <a:ext cx="2270234" cy="3657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7685" y="4160520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E08E0B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27448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مخلفات وتخزين غير منظم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12068" y="4800600"/>
            <a:ext cx="945931" cy="3657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1988" y="4727448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E08E0B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5294376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مواقع بحالة جيدة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06717" y="5367528"/>
            <a:ext cx="4351282" cy="365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6637" y="5294376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2E8B57"/>
                </a:solidFill>
                <a:latin typeface="Arial"/>
                <a:cs typeface="Arial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952744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  <a:cs typeface="Arial"/>
              </a:rPr>
              <a:t>إجمالي صور الملاحظات: 72 من ٩٦ صورة  (و1 صور غير مصنفة)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364224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55606B"/>
                </a:solidFill>
                <a:latin typeface="Arial"/>
                <a:cs typeface="Arial"/>
              </a:rPr>
              <a:t>الأحمر: بقع مستعصية  •  البرتقالي: تجهيزات وخدمات  •  الأخضر: مواقع بحالة جيدة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أبرز العوامل المؤثرة على مستوى النظافة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9079992" y="1463040"/>
            <a:ext cx="2651760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79992" y="1463040"/>
            <a:ext cx="265176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71432" y="173736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Arial"/>
                <a:cs typeface="Arial"/>
              </a:rPr>
              <a:t>بقع مستعصية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1432" y="2560320"/>
            <a:ext cx="24688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0">
                <a:solidFill>
                  <a:srgbClr val="1B3A5C"/>
                </a:solidFill>
                <a:latin typeface="Arial"/>
                <a:cs typeface="Arial"/>
              </a:rPr>
              <a:t>بقع داكنة وباهتة على أرضيات القاعات والسجاد لا تزول بعد التنظيف بالجلاية.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8775" y="1463040"/>
            <a:ext cx="2651760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08775" y="1463040"/>
            <a:ext cx="2651760" cy="109728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5" y="173736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1">
                <a:solidFill>
                  <a:srgbClr val="E08E0B"/>
                </a:solidFill>
                <a:latin typeface="Arial"/>
                <a:cs typeface="Arial"/>
              </a:rPr>
              <a:t>تجهيزات خارج الخدمة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5" y="2560320"/>
            <a:ext cx="24688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0">
                <a:solidFill>
                  <a:srgbClr val="1B3A5C"/>
                </a:solidFill>
                <a:latin typeface="Arial"/>
                <a:cs typeface="Arial"/>
              </a:rPr>
              <a:t>صابونات معطلة، وصنابير مغطاة بأكياس، وحوامل ورق معلقة بطريقة مؤقتة.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59" y="1463040"/>
            <a:ext cx="2651760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59" y="1463040"/>
            <a:ext cx="2651760" cy="109728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8999" y="173736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1">
                <a:solidFill>
                  <a:srgbClr val="E08E0B"/>
                </a:solidFill>
                <a:latin typeface="Arial"/>
                <a:cs typeface="Arial"/>
              </a:rPr>
              <a:t>دورات المياه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8999" y="2560320"/>
            <a:ext cx="24688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0">
                <a:solidFill>
                  <a:srgbClr val="1B3A5C"/>
                </a:solidFill>
                <a:latin typeface="Arial"/>
                <a:cs typeface="Arial"/>
              </a:rPr>
              <a:t>تراكم أوساخ حول فتحات التصريف وفواصل البلاط، ومخلفات في سلال المهملات.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3" y="1463040"/>
            <a:ext cx="2651760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6343" y="1463040"/>
            <a:ext cx="2651760" cy="109728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3" y="173736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1">
                <a:solidFill>
                  <a:srgbClr val="E08E0B"/>
                </a:solidFill>
                <a:latin typeface="Arial"/>
                <a:cs typeface="Arial"/>
              </a:rPr>
              <a:t>سلال المهملات والمخلفات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3" y="2560320"/>
            <a:ext cx="24688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0">
                <a:solidFill>
                  <a:srgbClr val="1B3A5C"/>
                </a:solidFill>
                <a:latin typeface="Arial"/>
                <a:cs typeface="Arial"/>
              </a:rPr>
              <a:t>سلال ممتلئة أو متسخة، وزجاجات ومخلفات متناثرة ومواد مكدسة في الزوايا.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أولاً: بقع مستعصية على أرضيات القاعات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بقع داكنة لا تزول بعد التنظيف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5</a:t>
            </a:r>
          </a:p>
        </p:txBody>
      </p:sp>
      <p:pic>
        <p:nvPicPr>
          <p:cNvPr id="8" name="Picture 7" descr="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كبيرة داكنة على بلاط القاعة</a:t>
            </a:r>
          </a:p>
        </p:txBody>
      </p:sp>
      <p:pic>
        <p:nvPicPr>
          <p:cNvPr id="11" name="Picture 10" descr="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متناثرة أسفل المقاعد</a:t>
            </a:r>
          </a:p>
        </p:txBody>
      </p:sp>
      <p:pic>
        <p:nvPicPr>
          <p:cNvPr id="14" name="Picture 13" descr="3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متعددة وسط القاعة</a:t>
            </a:r>
          </a:p>
        </p:txBody>
      </p:sp>
      <p:pic>
        <p:nvPicPr>
          <p:cNvPr id="17" name="Picture 16" descr="4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داكنة متفرقة على الأرضية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بقع كبيرة وواضحة يظهر لونها باهتاً في الصور، وتبقى بعد التنظيف بالجلاية، مما يتطلب معالجة متخصصة.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بقع مستعصية وباهتة على الأرضيات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لون باهت في الصور يدل على بقع متشربة في البلاط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6</a:t>
            </a:r>
          </a:p>
        </p:txBody>
      </p:sp>
      <p:pic>
        <p:nvPicPr>
          <p:cNvPr id="8" name="Picture 7" descr="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على بلاط الدرج</a:t>
            </a:r>
          </a:p>
        </p:txBody>
      </p:sp>
      <p:pic>
        <p:nvPicPr>
          <p:cNvPr id="11" name="Picture 10" descr="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داكنة بجوار المقعد</a:t>
            </a:r>
          </a:p>
        </p:txBody>
      </p:sp>
      <p:pic>
        <p:nvPicPr>
          <p:cNvPr id="14" name="Picture 13" descr="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باهتة في أرضية القاعة</a:t>
            </a:r>
          </a:p>
        </p:txBody>
      </p:sp>
      <p:pic>
        <p:nvPicPr>
          <p:cNvPr id="17" name="Picture 16" descr="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آثار جريان وبقع في الممر بين المقاعد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اللون الباهت يشير إلى بقع متشربة في مسام البلاط لا تزيلها الجلاية بالمعالجة المعتادة.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بقع أخرى على أرضيات القاعات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بقع مستمرة تتكرر في أكثر من قاعة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7</a:t>
            </a:r>
          </a:p>
        </p:txBody>
      </p:sp>
      <p:pic>
        <p:nvPicPr>
          <p:cNvPr id="8" name="Picture 7" descr="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متشربة في البلاط</a:t>
            </a:r>
          </a:p>
        </p:txBody>
      </p:sp>
      <p:pic>
        <p:nvPicPr>
          <p:cNvPr id="11" name="Picture 10" descr="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متفرقة أسفل المقاعد</a:t>
            </a:r>
          </a:p>
        </p:txBody>
      </p:sp>
      <p:pic>
        <p:nvPicPr>
          <p:cNvPr id="14" name="Picture 13" descr="5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أثر سائل جاف على البلاط</a:t>
            </a:r>
          </a:p>
        </p:txBody>
      </p:sp>
      <p:pic>
        <p:nvPicPr>
          <p:cNvPr id="17" name="Picture 16" descr="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أثر سائل جاف أسفل المقعد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تكرار البقع في أكثر من قاعة يدل على مشكلة مستمرة وليس حالة عابرة.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بقع السجاد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سجاد القاعات والمكاتب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8</a:t>
            </a:r>
          </a:p>
        </p:txBody>
      </p:sp>
      <p:pic>
        <p:nvPicPr>
          <p:cNvPr id="8" name="Picture 7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داكنة على سجاد القاعة</a:t>
            </a:r>
          </a:p>
        </p:txBody>
      </p:sp>
      <p:pic>
        <p:nvPicPr>
          <p:cNvPr id="11" name="Picture 10" descr="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داكنة بجوار المقاعد</a:t>
            </a:r>
          </a:p>
        </p:txBody>
      </p:sp>
      <p:pic>
        <p:nvPicPr>
          <p:cNvPr id="14" name="Picture 13" descr="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باهتة ممتدة على السجاد</a:t>
            </a:r>
          </a:p>
        </p:txBody>
      </p:sp>
      <p:pic>
        <p:nvPicPr>
          <p:cNvPr id="17" name="Picture 16" descr="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داكنة أسفل المقعد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السجاد يحتاج غسيلاً عميقاً بالاستخلاص (Extraction) وليس مجرد الكنس أو المسح الجاف.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بقع الأرضيات الملونة والزوايا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تجمع أوساخ وبقع عند أطراف الجدران والزوايا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9</a:t>
            </a:r>
          </a:p>
        </p:txBody>
      </p:sp>
      <p:pic>
        <p:nvPicPr>
          <p:cNvPr id="8" name="Picture 7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آثار بيضاء وبقع عند الزاوية</a:t>
            </a:r>
          </a:p>
        </p:txBody>
      </p:sp>
      <p:pic>
        <p:nvPicPr>
          <p:cNvPr id="11" name="Picture 10" descr="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خطوط وآثار على أرضية بجوار الجدار</a:t>
            </a:r>
          </a:p>
        </p:txBody>
      </p:sp>
      <p:pic>
        <p:nvPicPr>
          <p:cNvPr id="14" name="Picture 13" descr="1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داكنة على الأرضية الملونة</a:t>
            </a:r>
          </a:p>
        </p:txBody>
      </p:sp>
      <p:pic>
        <p:nvPicPr>
          <p:cNvPr id="17" name="Picture 16" descr="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فتحة تصريف بداخلها أوساخ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الزوايا وأطراف الجدران وفتحات التصريف تحتاج عناية خاصة ضمن جدول النظافة.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ثانياً: صابونات خارج الخدمة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لا تعمل أو مكسورة أو متآكلة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10</a:t>
            </a:r>
          </a:p>
        </p:txBody>
      </p:sp>
      <p:pic>
        <p:nvPicPr>
          <p:cNvPr id="8" name="Picture 7" descr="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غطاء الصابونة مفتوح ومكسور</a:t>
            </a:r>
          </a:p>
        </p:txBody>
      </p:sp>
      <p:pic>
        <p:nvPicPr>
          <p:cNvPr id="11" name="Picture 10" descr="9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صدأ وتسرب عند فتحة الصابونة</a:t>
            </a:r>
          </a:p>
        </p:txBody>
      </p:sp>
      <p:pic>
        <p:nvPicPr>
          <p:cNvPr id="14" name="Picture 13" descr="9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تسرب وتآكل أسفل الصابونة</a:t>
            </a:r>
          </a:p>
        </p:txBody>
      </p:sp>
      <p:pic>
        <p:nvPicPr>
          <p:cNvPr id="17" name="Picture 16" descr="9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صدأ في زر الصابونة ونقص في غطائها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الصابونات التالفة تحرم المستخدمين من غسل اليدين وتخفض مستوى النظافة العامة، وتحتاج صيانة أو استبدالاً.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تجهيزات أخرى معطلة في دورات المياه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حلول مؤقتة بأكياس بدل الإصلاح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11</a:t>
            </a:r>
          </a:p>
        </p:txBody>
      </p:sp>
      <p:pic>
        <p:nvPicPr>
          <p:cNvPr id="8" name="Picture 7" descr="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صنبور مغطى بكيس (خارج الخدمة)</a:t>
            </a:r>
          </a:p>
        </p:txBody>
      </p:sp>
      <p:pic>
        <p:nvPicPr>
          <p:cNvPr id="11" name="Picture 10" descr="3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صنبور مغطى بكيس بجوار علبة مناديل</a:t>
            </a:r>
          </a:p>
        </p:txBody>
      </p:sp>
      <p:pic>
        <p:nvPicPr>
          <p:cNvPr id="14" name="Picture 13" descr="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حامل ورق معلق بكيس أزرق</a:t>
            </a:r>
          </a:p>
        </p:txBody>
      </p:sp>
      <p:pic>
        <p:nvPicPr>
          <p:cNvPr id="17" name="Picture 16" descr="9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حاملا ورق معلقان بأكياس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التغطية بالأكياس والتعليق المؤقت تعني أن التجهيزات معطلة، وتؤثر على المظهر العام وتجربة المستخدم.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ثالثاً: دورات المياه – الأرضيات والتصريف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تراكم أوساخ في فواصل البلاط وحول فتحات التصريف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12</a:t>
            </a:r>
          </a:p>
        </p:txBody>
      </p:sp>
      <p:pic>
        <p:nvPicPr>
          <p:cNvPr id="8" name="Picture 7" descr="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تراكم رواسب بنية حول المرحاض والتصريف</a:t>
            </a:r>
          </a:p>
        </p:txBody>
      </p:sp>
      <p:pic>
        <p:nvPicPr>
          <p:cNvPr id="11" name="Picture 10" descr="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أوساخ حول قاعدة المرحاض والتصريف</a:t>
            </a:r>
          </a:p>
        </p:txBody>
      </p:sp>
      <p:pic>
        <p:nvPicPr>
          <p:cNvPr id="14" name="Picture 13" descr="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داكنة على الأرضية</a:t>
            </a:r>
          </a:p>
        </p:txBody>
      </p:sp>
      <p:pic>
        <p:nvPicPr>
          <p:cNvPr id="17" name="Picture 16" descr="5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أوساخ تحت المغسلة وحول التصريف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رواسب فواصل البلاط وأسفل المغاسل تحتاج تنظيفاً عميقاً بمواد مزيلة للترسبات.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دورات المياه – سلال المهملات والمناديل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سلال ممتلئة ومناديل متكدسة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13</a:t>
            </a:r>
          </a:p>
        </p:txBody>
      </p:sp>
      <p:pic>
        <p:nvPicPr>
          <p:cNvPr id="8" name="Picture 7" descr="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سلة مناديل مليئة أسفل المغسلة</a:t>
            </a:r>
          </a:p>
        </p:txBody>
      </p:sp>
      <p:pic>
        <p:nvPicPr>
          <p:cNvPr id="11" name="Picture 10" descr="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مناديل متراكمة أسفل موزع الورق</a:t>
            </a:r>
          </a:p>
        </p:txBody>
      </p:sp>
      <p:pic>
        <p:nvPicPr>
          <p:cNvPr id="14" name="Picture 13" descr="9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مناديل ملقاة داخل السلة</a:t>
            </a:r>
          </a:p>
        </p:txBody>
      </p:sp>
      <p:pic>
        <p:nvPicPr>
          <p:cNvPr id="17" name="Picture 16" descr="8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مناديل مستعملة في الحاوية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ينبغي زيادة عدد مرات إفراغ سلال المناديل في دورات المياه أثناء الدوام.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رابعاً: سلال المهملات في القاعات والممرات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سلال متسخة وبقايا أكواب وزجاجات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14</a:t>
            </a:r>
          </a:p>
        </p:txBody>
      </p:sp>
      <p:pic>
        <p:nvPicPr>
          <p:cNvPr id="8" name="Picture 7" descr="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سلة مهملات وبقعة جافة بجانبها</a:t>
            </a:r>
          </a:p>
        </p:txBody>
      </p:sp>
      <p:pic>
        <p:nvPicPr>
          <p:cNvPr id="11" name="Picture 10" descr="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أكواب مستعملة في السلة</a:t>
            </a:r>
          </a:p>
        </p:txBody>
      </p:sp>
      <p:pic>
        <p:nvPicPr>
          <p:cNvPr id="14" name="Picture 13" descr="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سلة متسخة بالداخل</a:t>
            </a:r>
          </a:p>
        </p:txBody>
      </p:sp>
      <p:pic>
        <p:nvPicPr>
          <p:cNvPr id="17" name="Picture 16" descr="7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زجاجات في سلة مهملات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يلزم إفراغ السلال وتغيير أكياسها بانتظام، وغسل السلال المتسخة من الداخل.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خامساً: مخلفات وتخزين غير منظم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مخلفات متناثرة ومواد مخزنة في زوايا غير مخصصة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15</a:t>
            </a:r>
          </a:p>
        </p:txBody>
      </p:sp>
      <p:pic>
        <p:nvPicPr>
          <p:cNvPr id="8" name="Picture 7" descr="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زجاجات ومخلفات متناثرة حول السلة</a:t>
            </a:r>
          </a:p>
        </p:txBody>
      </p:sp>
      <p:pic>
        <p:nvPicPr>
          <p:cNvPr id="11" name="Picture 10" descr="7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كراتين ومواد مخزنة في زاوية</a:t>
            </a:r>
          </a:p>
        </p:txBody>
      </p:sp>
      <p:pic>
        <p:nvPicPr>
          <p:cNvPr id="14" name="Picture 13" descr="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بقايا على سجاد المكتب</a:t>
            </a:r>
          </a:p>
        </p:txBody>
      </p:sp>
      <p:pic>
        <p:nvPicPr>
          <p:cNvPr id="17" name="Picture 16" descr="4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بقايا وأتربة أسفل الكرسي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ضرورة تخصيص أماكن للتخزين والحفاظ على خلو الزوايا والأرضيات من المخلفات.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مواقع بحالة جيدة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نقاط إيجابية تستحق الاستمرار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16</a:t>
            </a:r>
          </a:p>
        </p:txBody>
      </p:sp>
      <p:pic>
        <p:nvPicPr>
          <p:cNvPr id="8" name="Picture 7" descr="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2E8B57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ممر نظيف ولامع</a:t>
            </a:r>
          </a:p>
        </p:txBody>
      </p:sp>
      <p:pic>
        <p:nvPicPr>
          <p:cNvPr id="11" name="Picture 10" descr="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2E8B57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أرضية لامعة في ممر المقاعد</a:t>
            </a:r>
          </a:p>
        </p:txBody>
      </p:sp>
      <p:pic>
        <p:nvPicPr>
          <p:cNvPr id="14" name="Picture 13" descr="7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2E8B57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دورة مياه نظيفة</a:t>
            </a:r>
          </a:p>
        </p:txBody>
      </p:sp>
      <p:pic>
        <p:nvPicPr>
          <p:cNvPr id="17" name="Picture 16" descr="8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2E8B57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ممر دورات مياه نظيف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المستوى الجيد في هذه المواقع يؤكد إمكانية الوصول للمستوى المطلوب في باقي المبنى.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توجيهات: عند وجود عائق أمام النظافة أو تدني مستواها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Arial"/>
                <a:cs typeface="Arial"/>
              </a:rPr>
              <a:t>في حال وجود عائق أمام النظافة (تجهيزات معطلة، بقع مستعصية، نقص مواد) أو تدني مستوى النظافة:</a:t>
            </a:r>
          </a:p>
        </p:txBody>
      </p:sp>
      <p:sp>
        <p:nvSpPr>
          <p:cNvPr id="8" name="Rectangle 7"/>
          <p:cNvSpPr/>
          <p:nvPr/>
        </p:nvSpPr>
        <p:spPr>
          <a:xfrm>
            <a:off x="8348471" y="2103120"/>
            <a:ext cx="3383280" cy="3108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48471" y="2103120"/>
            <a:ext cx="3383280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74351" y="2377440"/>
            <a:ext cx="731520" cy="731520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9911" y="324612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1B3A5C"/>
                </a:solidFill>
                <a:latin typeface="Arial"/>
                <a:cs typeface="Arial"/>
              </a:rPr>
              <a:t>رصد الملاحظة وتوثيقها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384048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1B3A5C"/>
                </a:solidFill>
                <a:latin typeface="Arial"/>
                <a:cs typeface="Arial"/>
              </a:rPr>
              <a:t>توثيق العائق أو تدني المستوى بالصور مع تحديد الموقع والتاريخ.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7845551" y="3429000"/>
            <a:ext cx="411480" cy="457200"/>
          </a:xfrm>
          <a:prstGeom prst="leftArrow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6551" y="2103120"/>
            <a:ext cx="3383280" cy="3108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16551" y="2103120"/>
            <a:ext cx="3383280" cy="109728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42431" y="2377440"/>
            <a:ext cx="731520" cy="731520"/>
          </a:xfrm>
          <a:prstGeom prst="ellipse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1" y="324612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E08E0B"/>
                </a:solidFill>
                <a:latin typeface="Arial"/>
                <a:cs typeface="Arial"/>
              </a:rPr>
              <a:t>الرفع على النظام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84048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1B3A5C"/>
                </a:solidFill>
                <a:latin typeface="Arial"/>
                <a:cs typeface="Arial"/>
              </a:rPr>
              <a:t>يقوم مدير الإدارة برفع بلاغ على النظام المعتمد مع إرفاق الصور والتفاصيل.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3913631" y="3429000"/>
            <a:ext cx="411480" cy="457200"/>
          </a:xfrm>
          <a:prstGeom prst="leftArrow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1" y="2103120"/>
            <a:ext cx="3383280" cy="3108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1" y="2103120"/>
            <a:ext cx="338328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1" y="2377440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1" y="324612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C0392B"/>
                </a:solidFill>
                <a:latin typeface="Arial"/>
                <a:cs typeface="Arial"/>
              </a:rPr>
              <a:t>التواصل مع مدير الخدمات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1" y="384048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1B3A5C"/>
                </a:solidFill>
                <a:latin typeface="Arial"/>
                <a:cs typeface="Arial"/>
              </a:rPr>
              <a:t>في حال عدم حل المشكلة بعد الرفع، يتم التواصل مباشرة مع مدير الخدمات.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Arial"/>
                <a:cs typeface="Arial"/>
              </a:rPr>
              <a:t>الهدف: ألا يبقى أي عائق أو تدنٍّ في مستوى النظافة دون رفع ومتابعة حتى يتم حله.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التوصيات المقترحة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1.  معالجة البقع المستعصية بعلاج متخصص (مزيل بقع / تلميع / تنظيف عميق) بدل الاكتفاء بالجلاية.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2.  غسل السجاد غسلاً عميقاً بالاستخلاص.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3.  إصلاح أو استبدال الصابونات المعطلة وحوامل الورق والصنابير الموضوع عليها أكياس.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4.  زيادة مرات إفراغ سلال المهملات والمناديل وتغيير أكياسها خلال الدوام.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5.  تنظيف عميق دوري لفواصل البلاط وفتحات التصريف وأسفل المغاسل في دورات المياه.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6.  تخصيص أماكن للتخزين وإزالة المخلفات والمواد المكدسة من الزوايا.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7.  متابعة دورية بالجولات الميدانية وتوثيقها بالصور لقياس التحسن.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12191695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  <a:cs typeface="Arial"/>
              </a:rPr>
              <a:t>شكراً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400" b="0">
                <a:solidFill>
                  <a:srgbClr val="C9D6E3"/>
                </a:solidFill>
                <a:latin typeface="Arial"/>
                <a:cs typeface="Arial"/>
              </a:rPr>
              <a:t>تقرير مستوى النظافة – مبنى 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  <a:cs typeface="Arial"/>
              </a:rPr>
              <a:t>تاريخ الجولة: ١٧ / ١٠ / ٢٠٢٦م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