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تقرير مستوى النظافة – مبنى ٤   |   ١٧ / ١٠ / ٢٠٢٦م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9377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94960" y="128016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394960" y="34747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مبنى ٤</a:t>
            </a:r>
            <a:endParaRPr lang="ar-SA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394960" y="448056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العوامل المؤثرة على مستوى النظافة والتوجيهات المقترحة</a:t>
            </a:r>
            <a:endParaRPr lang="ar-SA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56692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العوامل المؤثرة على مستوى النظافة</a:t>
            </a:r>
            <a:endParaRPr lang="en-US" sz="3600" dirty="0"/>
          </a:p>
        </p:txBody>
      </p:sp>
      <p:sp>
        <p:nvSpPr>
          <p:cNvPr id="3" name="Factor card 1"/>
          <p:cNvSpPr/>
          <p:nvPr/>
        </p:nvSpPr>
        <p:spPr>
          <a:xfrm>
            <a:off x="905256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Factor icon bg"/>
          <p:cNvSpPr/>
          <p:nvPr/>
        </p:nvSpPr>
        <p:spPr>
          <a:xfrm>
            <a:off x="10515600" y="182880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Facto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20574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28116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الأرضيات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البقع قابل للإزالة بالتنظيف، وبعضها متشرب في البلاط ويحتاج معالجة.</a:t>
            </a:r>
            <a:endParaRPr lang="ar-SA" sz="1600" dirty="0"/>
          </a:p>
        </p:txBody>
      </p:sp>
      <p:sp>
        <p:nvSpPr>
          <p:cNvPr id="8" name="Factor card 2"/>
          <p:cNvSpPr/>
          <p:nvPr/>
        </p:nvSpPr>
        <p:spPr>
          <a:xfrm>
            <a:off x="621792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9" name="Factor icon bg"/>
          <p:cNvSpPr/>
          <p:nvPr/>
        </p:nvSpPr>
        <p:spPr>
          <a:xfrm>
            <a:off x="7680960" y="182880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0" name="Facto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0574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تجهيزات خارج الخدمة</a:t>
            </a:r>
            <a:endParaRPr lang="ar-SA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صابونات معطلة وصنابير مغطاة بأكياس وحوامل ورق معلقة بشكل مؤقت.</a:t>
            </a:r>
            <a:endParaRPr lang="ar-SA" sz="1600" dirty="0"/>
          </a:p>
        </p:txBody>
      </p:sp>
      <p:sp>
        <p:nvSpPr>
          <p:cNvPr id="13" name="Factor card 3"/>
          <p:cNvSpPr/>
          <p:nvPr/>
        </p:nvSpPr>
        <p:spPr>
          <a:xfrm>
            <a:off x="338328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4" name="Factor icon bg"/>
          <p:cNvSpPr/>
          <p:nvPr/>
        </p:nvSpPr>
        <p:spPr>
          <a:xfrm>
            <a:off x="4846320" y="182880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5" name="Facto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057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المياه</a:t>
            </a:r>
            <a:endParaRPr lang="ar-SA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متراكمة حول فتحات التصريف وفواصل البلاط ومناديل متراكمة.</a:t>
            </a:r>
            <a:endParaRPr lang="ar-SA" sz="1600" dirty="0"/>
          </a:p>
        </p:txBody>
      </p:sp>
      <p:sp>
        <p:nvSpPr>
          <p:cNvPr id="18" name="Factor card 4"/>
          <p:cNvSpPr/>
          <p:nvPr/>
        </p:nvSpPr>
        <p:spPr>
          <a:xfrm>
            <a:off x="54864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9" name="Factor icon bg"/>
          <p:cNvSpPr/>
          <p:nvPr/>
        </p:nvSpPr>
        <p:spPr>
          <a:xfrm>
            <a:off x="2011680" y="182880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20" name="Facto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2057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المهملات والمخلفات</a:t>
            </a:r>
            <a:endParaRPr lang="ar-SA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سلال متسخة ومخلفات متناثرة ومواد مكدسة في الزوايا.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على أرضيات القاعات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كبيرة داكنة على بلاط القاعة</a:t>
            </a:r>
            <a:endParaRPr lang="ar-SA" sz="1400" dirty="0"/>
          </a:p>
        </p:txBody>
      </p:sp>
      <p:pic>
        <p:nvPicPr>
          <p:cNvPr id="5" name="Photo 2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متناثرة أسفل المقاعد</a:t>
            </a:r>
            <a:endParaRPr lang="ar-SA" sz="1500" dirty="0"/>
          </a:p>
        </p:txBody>
      </p:sp>
      <p:pic>
        <p:nvPicPr>
          <p:cNvPr id="7" name="Photo 3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متعددة وسط القاعة</a:t>
            </a:r>
            <a:endParaRPr lang="ar-SA" sz="1500" dirty="0"/>
          </a:p>
        </p:txBody>
      </p:sp>
      <p:pic>
        <p:nvPicPr>
          <p:cNvPr id="9" name="Photo 49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متفرقة على الأرضية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البقع قابل للإزالة بالتنظيف، وبعضها متشرب في البلاط ويحتاج معالجة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باهتة متشربة في البلاط</a:t>
            </a:r>
            <a:endParaRPr lang="en-US" sz="3600" dirty="0"/>
          </a:p>
        </p:txBody>
      </p:sp>
      <p:pic>
        <p:nvPicPr>
          <p:cNvPr id="3" name="Photo 42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بلاط الدرج</a:t>
            </a:r>
            <a:endParaRPr lang="ar-SA" sz="1300" dirty="0"/>
          </a:p>
        </p:txBody>
      </p:sp>
      <p:pic>
        <p:nvPicPr>
          <p:cNvPr id="5" name="Photo 4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بجوار المقعد</a:t>
            </a:r>
            <a:endParaRPr lang="ar-SA" sz="1300" dirty="0"/>
          </a:p>
        </p:txBody>
      </p:sp>
      <p:pic>
        <p:nvPicPr>
          <p:cNvPr id="7" name="Photo 56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في أرضية القاعة</a:t>
            </a:r>
            <a:endParaRPr lang="ar-SA" sz="1300" dirty="0"/>
          </a:p>
        </p:txBody>
      </p:sp>
      <p:pic>
        <p:nvPicPr>
          <p:cNvPr id="9" name="Photo 74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مستعصية بحاجة إلى صيانة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البقع المتشربة في مسام البلاط تحتاج معالجة، بينما القابلة للإزالة يكفيها التنظيف المنتظم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متكررة في أكثر من قاعة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21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متشربة في البلاط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2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متفرقة أسفل المقاعد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5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على البلاط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5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أسفل المقعد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تكرار البقع في أكثر من قاعة يدل على مشكلة مستمرة وليست حالة عابرة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السجاد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ممتدة على السجاد</a:t>
            </a:r>
            <a:endParaRPr lang="ar-SA" sz="1400" dirty="0"/>
          </a:p>
        </p:txBody>
      </p:sp>
      <p:pic>
        <p:nvPicPr>
          <p:cNvPr id="5" name="Photo 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على سجاد القاعة</a:t>
            </a:r>
            <a:endParaRPr lang="ar-SA" sz="1500" dirty="0"/>
          </a:p>
        </p:txBody>
      </p:sp>
      <p:pic>
        <p:nvPicPr>
          <p:cNvPr id="7" name="Photo 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بجوار المقاعد</a:t>
            </a:r>
            <a:endParaRPr lang="ar-SA" sz="1500" dirty="0"/>
          </a:p>
        </p:txBody>
      </p:sp>
      <p:pic>
        <p:nvPicPr>
          <p:cNvPr id="9" name="Photo 1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أسفل المقعد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السجاد يحتاج غسيلاً عميقاً بالاستخلاص وليس مجرد الكنس أو المسح الجاف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الأرضيات الملونة والزوايا</a:t>
            </a:r>
            <a:endParaRPr lang="en-US" sz="3600" dirty="0"/>
          </a:p>
        </p:txBody>
      </p:sp>
      <p:pic>
        <p:nvPicPr>
          <p:cNvPr id="3" name="Photo 14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بيضاء وبقع عند الزاوية</a:t>
            </a:r>
            <a:endParaRPr lang="ar-SA" sz="1300" dirty="0"/>
          </a:p>
        </p:txBody>
      </p:sp>
      <p:pic>
        <p:nvPicPr>
          <p:cNvPr id="5" name="Photo 19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خطوط وآثار بجوار الجدار</a:t>
            </a:r>
            <a:endParaRPr lang="ar-SA" sz="1300" dirty="0"/>
          </a:p>
        </p:txBody>
      </p:sp>
      <p:pic>
        <p:nvPicPr>
          <p:cNvPr id="7" name="Photo 17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41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فتحة كهرباء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الزوايا وأطراف الجدران وفتحات الكهرباء تحتاج عناية خاصة ضمن جدول النظافة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صابونات خارج الخدمة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9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صابونة تحتاج لصيانة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9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وتسرب، وتحتاج لصيانة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تسرب وتآكل، وتحتاج لصيانة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9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في الزر، وتحتاج لصيانة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الصابونات المعطلة تحرم المستخدمين من غسل اليدين وتحتاج لصيانة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تجهيزات معطلة في دورات المياه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(خارج الخدمة)</a:t>
            </a:r>
            <a:endParaRPr lang="ar-SA" sz="1400" dirty="0"/>
          </a:p>
        </p:txBody>
      </p:sp>
      <p:pic>
        <p:nvPicPr>
          <p:cNvPr id="5" name="Photo 3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بجوار علبة مناديل</a:t>
            </a:r>
            <a:endParaRPr lang="ar-SA" sz="1500" dirty="0"/>
          </a:p>
        </p:txBody>
      </p:sp>
      <p:pic>
        <p:nvPicPr>
          <p:cNvPr id="7" name="Photo 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 ورق معلق بكيس أزرق</a:t>
            </a:r>
            <a:endParaRPr lang="ar-SA" sz="1500" dirty="0"/>
          </a:p>
        </p:txBody>
      </p:sp>
      <p:pic>
        <p:nvPicPr>
          <p:cNvPr id="9" name="Photo 9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حاملا ورق معلقان بأكياس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التغطية بالأكياس والتعليق المؤقت تعني أن التجهيزات معطلة وتؤثر على تجربة المستخدم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الأرضيات والتصريف</a:t>
            </a:r>
            <a:endParaRPr lang="en-US" sz="3600" dirty="0"/>
          </a:p>
        </p:txBody>
      </p:sp>
      <p:pic>
        <p:nvPicPr>
          <p:cNvPr id="3" name="Photo 6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تكلسات بسبب كثرة ترسب المياه حول المرحاض</a:t>
            </a:r>
            <a:endParaRPr lang="ar-SA" sz="1300" dirty="0"/>
          </a:p>
        </p:txBody>
      </p:sp>
      <p:pic>
        <p:nvPicPr>
          <p:cNvPr id="5" name="Photo 84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وآثار تكلسات حول قاعدة المرحاض</a:t>
            </a:r>
            <a:endParaRPr lang="ar-SA" sz="1300" dirty="0"/>
          </a:p>
        </p:txBody>
      </p:sp>
      <p:pic>
        <p:nvPicPr>
          <p:cNvPr id="7" name="Photo 83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53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حول التصريف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التكلسات الناتجة عن ترسب المياه ورواسب فواصل البلاط تحتاج تنظيفاً عميقاً بمواد مزيلة للترسبات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المناديل المتراكمة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مليئة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8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متراكمة أسفل موزع الورق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ملقاة داخل الحاوية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8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مستعملة في الحاوية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زيادة عدد مرات التنظيف وإفراغ المناديل أثناء الدوام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سلال المهملات في القاعات والممرات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أكواب مستعملة في السلة</a:t>
            </a:r>
            <a:endParaRPr lang="ar-SA" sz="1400" dirty="0"/>
          </a:p>
        </p:txBody>
      </p:sp>
      <p:pic>
        <p:nvPicPr>
          <p:cNvPr id="5" name="Photo 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مهملات وبقعة جافة بجانبها</a:t>
            </a:r>
            <a:endParaRPr lang="ar-SA" sz="1500" dirty="0"/>
          </a:p>
        </p:txBody>
      </p:sp>
      <p:pic>
        <p:nvPicPr>
          <p:cNvPr id="7" name="Photo 5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متسخة من الداخل</a:t>
            </a:r>
            <a:endParaRPr lang="ar-SA" sz="1500" dirty="0"/>
          </a:p>
        </p:txBody>
      </p:sp>
      <p:pic>
        <p:nvPicPr>
          <p:cNvPr id="9" name="Photo 7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في سلة المهملات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إفراغ السلال وتغيير أكياسها بانتظام وغسل المتسخ منها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مخلفات وتخزين غير منظم</a:t>
            </a:r>
            <a:endParaRPr lang="en-US" sz="3600" dirty="0"/>
          </a:p>
        </p:txBody>
      </p:sp>
      <p:pic>
        <p:nvPicPr>
          <p:cNvPr id="3" name="Photo 7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ومخلفات متناثرة حول السلة</a:t>
            </a:r>
            <a:endParaRPr lang="ar-SA" sz="1300" dirty="0"/>
          </a:p>
        </p:txBody>
      </p:sp>
      <p:pic>
        <p:nvPicPr>
          <p:cNvPr id="5" name="Photo 7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كراتين ومواد مخزنة في زاوية</a:t>
            </a:r>
            <a:endParaRPr lang="ar-SA" sz="1300" dirty="0"/>
          </a:p>
        </p:txBody>
      </p:sp>
      <p:pic>
        <p:nvPicPr>
          <p:cNvPr id="7" name="Photo 79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على سجاد المكتب</a:t>
            </a:r>
            <a:endParaRPr lang="ar-SA" sz="1300" dirty="0"/>
          </a:p>
        </p:txBody>
      </p:sp>
      <p:pic>
        <p:nvPicPr>
          <p:cNvPr id="9" name="Photo 4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وأتربة أسفل الكرسي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تخصيص أماكن للتخزين وإبقاء الزوايا والأرضيات خالية من المخلفات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مواقع بحالة جيدة: الممرات ودورات المياه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نظيف ولامع</a:t>
            </a:r>
            <a:endParaRPr lang="ar-SA" sz="1400" dirty="0"/>
          </a:p>
        </p:txBody>
      </p:sp>
      <p:pic>
        <p:nvPicPr>
          <p:cNvPr id="5" name="Photo 7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مياه نظيفة</a:t>
            </a:r>
            <a:endParaRPr lang="ar-SA" sz="1500" dirty="0"/>
          </a:p>
        </p:txBody>
      </p:sp>
      <p:pic>
        <p:nvPicPr>
          <p:cNvPr id="7" name="Photo 86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دورات مياه نظيف</a:t>
            </a:r>
            <a:endParaRPr lang="ar-SA" sz="1500" dirty="0"/>
          </a:p>
        </p:txBody>
      </p:sp>
      <p:pic>
        <p:nvPicPr>
          <p:cNvPr id="9" name="Photo 97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أرضية دورة مياه نظيفة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المستوى الجيد في هذه المواقع يؤكد إمكانية الوصول للمستوى المطلوب في باقي المبنى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مواقع بحالة جيدة: القاعات الدراسية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98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مرتبة وأرضية نظيفة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99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واسعة بحالة جيدة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100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نظيفة ومرتبة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101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بأرضية نظيفة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قاعات مرتبة بأرضيات نظيفة، وهو المستوى المطلوب في جميع القاعات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مواقع بحالة جيدة: قاعات وممرات</a:t>
            </a:r>
            <a:endParaRPr lang="en-US" sz="3600" dirty="0"/>
          </a:p>
        </p:txBody>
      </p:sp>
      <p:pic>
        <p:nvPicPr>
          <p:cNvPr id="3" name="Photo 102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مرتبة وأرضية نظيفة</a:t>
            </a:r>
            <a:endParaRPr lang="ar-SA" sz="1300" dirty="0"/>
          </a:p>
        </p:txBody>
      </p:sp>
      <p:pic>
        <p:nvPicPr>
          <p:cNvPr id="5" name="Photo 10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نظيفة ومنظمة</a:t>
            </a:r>
            <a:endParaRPr lang="ar-SA" sz="1300" dirty="0"/>
          </a:p>
        </p:txBody>
      </p:sp>
      <p:pic>
        <p:nvPicPr>
          <p:cNvPr id="7" name="Photo 10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بحالة جيدة</a:t>
            </a:r>
            <a:endParaRPr lang="ar-SA" sz="1300" dirty="0"/>
          </a:p>
        </p:txBody>
      </p:sp>
      <p:pic>
        <p:nvPicPr>
          <p:cNvPr id="9" name="Photo 16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وجود علبة مياه ملقاة في ممر المقاعد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الحفاظ على هذا المستوى مع معالجة الملاحظات البسيطة مثل المخلفات الملقاة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عند وجود عائق أمام النظافة أو تدني مستواها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841248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Step icon bg"/>
          <p:cNvSpPr/>
          <p:nvPr/>
        </p:nvSpPr>
        <p:spPr>
          <a:xfrm>
            <a:off x="9555480" y="1965960"/>
            <a:ext cx="914400" cy="91440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5" name="Ste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1512" y="22219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9536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الملاحظة وتوثيقها</a:t>
            </a:r>
            <a:endParaRPr lang="ar-SA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توثيق العائق أو تدني المستوى بالصور مع تحديد الموقع والتاريخ.</a:t>
            </a:r>
            <a:endParaRPr lang="ar-SA" sz="1500" dirty="0"/>
          </a:p>
        </p:txBody>
      </p:sp>
      <p:sp>
        <p:nvSpPr>
          <p:cNvPr id="8" name="Arrow 1"/>
          <p:cNvSpPr/>
          <p:nvPr/>
        </p:nvSpPr>
        <p:spPr>
          <a:xfrm>
            <a:off x="777240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9" name="Step card 2"/>
          <p:cNvSpPr/>
          <p:nvPr/>
        </p:nvSpPr>
        <p:spPr>
          <a:xfrm>
            <a:off x="448056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0" name="Step icon bg"/>
          <p:cNvSpPr/>
          <p:nvPr/>
        </p:nvSpPr>
        <p:spPr>
          <a:xfrm>
            <a:off x="5623560" y="1965960"/>
            <a:ext cx="914400" cy="91440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1" name="Ste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2" y="22219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الرفع على النظام</a:t>
            </a:r>
            <a:endParaRPr lang="ar-SA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يقوم مدير الإدارة برفع بلاغ على النظام مع إرفاق الصور والتفاصيل.</a:t>
            </a:r>
            <a:endParaRPr lang="ar-SA" sz="1500" dirty="0"/>
          </a:p>
        </p:txBody>
      </p:sp>
      <p:sp>
        <p:nvSpPr>
          <p:cNvPr id="14" name="Arrow 2"/>
          <p:cNvSpPr/>
          <p:nvPr/>
        </p:nvSpPr>
        <p:spPr>
          <a:xfrm>
            <a:off x="384048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15" name="Step card 3"/>
          <p:cNvSpPr/>
          <p:nvPr/>
        </p:nvSpPr>
        <p:spPr>
          <a:xfrm>
            <a:off x="54864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Step icon bg"/>
          <p:cNvSpPr/>
          <p:nvPr/>
        </p:nvSpPr>
        <p:spPr>
          <a:xfrm>
            <a:off x="1691640" y="1965960"/>
            <a:ext cx="914400" cy="91440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Ste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72" y="22219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52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مدير الخدمات</a:t>
            </a:r>
            <a:endParaRPr lang="ar-SA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لم تُحل المشكلة بعد الرفع، يتم التواصل مباشرة مع مدير الخدمات.</a:t>
            </a:r>
            <a:endParaRPr lang="ar-SA" sz="1500" dirty="0"/>
          </a:p>
        </p:txBody>
      </p:sp>
      <p:sp>
        <p:nvSpPr>
          <p:cNvPr id="20" name="Takeaway card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1" name="Takeaway icon bg"/>
          <p:cNvSpPr/>
          <p:nvPr/>
        </p:nvSpPr>
        <p:spPr>
          <a:xfrm>
            <a:off x="10927080" y="55778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22" name="Takeawa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5096" y="5705856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ألا يبقى أي عائق أو تدنٍّ في مستوى النظافة دون رفع ومتابعة حتى يُحل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التوصيات المقترحة</a:t>
            </a:r>
            <a:endParaRPr lang="en-US" sz="3600" dirty="0"/>
          </a:p>
        </p:txBody>
      </p:sp>
      <p:sp>
        <p:nvSpPr>
          <p:cNvPr id="3" name="Rec card 1"/>
          <p:cNvSpPr/>
          <p:nvPr/>
        </p:nvSpPr>
        <p:spPr>
          <a:xfrm>
            <a:off x="621792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Rec icon bg"/>
          <p:cNvSpPr/>
          <p:nvPr/>
        </p:nvSpPr>
        <p:spPr>
          <a:xfrm>
            <a:off x="1065276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Re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16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إزالة البقع القابلة للإزالة بالتنظيف المنتظم، ومعالجة البقع المتشربة في البلاط</a:t>
            </a:r>
            <a:endParaRPr lang="ar-SA" sz="1600" dirty="0"/>
          </a:p>
        </p:txBody>
      </p:sp>
      <p:sp>
        <p:nvSpPr>
          <p:cNvPr id="7" name="Rec card 2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8" name="Rec icon bg"/>
          <p:cNvSpPr/>
          <p:nvPr/>
        </p:nvSpPr>
        <p:spPr>
          <a:xfrm>
            <a:off x="498348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9" name="Re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201168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غسل السجاد غسلاً عميقاً بالاستخلاص</a:t>
            </a:r>
            <a:endParaRPr lang="ar-SA" sz="1600" dirty="0"/>
          </a:p>
        </p:txBody>
      </p:sp>
      <p:sp>
        <p:nvSpPr>
          <p:cNvPr id="11" name="Rec card 3"/>
          <p:cNvSpPr/>
          <p:nvPr/>
        </p:nvSpPr>
        <p:spPr>
          <a:xfrm>
            <a:off x="621792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Rec icon bg"/>
          <p:cNvSpPr/>
          <p:nvPr/>
        </p:nvSpPr>
        <p:spPr>
          <a:xfrm>
            <a:off x="10652760" y="3429000"/>
            <a:ext cx="640080" cy="64008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Re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3611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4652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إصلاح أو استبدال الصابونات والصنابير وحوامل الورق المعطلة</a:t>
            </a:r>
            <a:endParaRPr lang="ar-SA" sz="1600" dirty="0"/>
          </a:p>
        </p:txBody>
      </p:sp>
      <p:sp>
        <p:nvSpPr>
          <p:cNvPr id="15" name="Rec card 4"/>
          <p:cNvSpPr/>
          <p:nvPr/>
        </p:nvSpPr>
        <p:spPr>
          <a:xfrm>
            <a:off x="54864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Rec icon bg"/>
          <p:cNvSpPr/>
          <p:nvPr/>
        </p:nvSpPr>
        <p:spPr>
          <a:xfrm>
            <a:off x="4983480" y="3429000"/>
            <a:ext cx="640080" cy="64008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7" name="Rec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361188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7724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زيادة مرات إفراغ سلال المهملات والمناديل وتغيير أكياسها خلال الدوام</a:t>
            </a:r>
            <a:endParaRPr lang="ar-SA" sz="1600" dirty="0"/>
          </a:p>
        </p:txBody>
      </p:sp>
      <p:sp>
        <p:nvSpPr>
          <p:cNvPr id="19" name="Rec card 5"/>
          <p:cNvSpPr/>
          <p:nvPr/>
        </p:nvSpPr>
        <p:spPr>
          <a:xfrm>
            <a:off x="621792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0" name="Rec icon bg"/>
          <p:cNvSpPr/>
          <p:nvPr/>
        </p:nvSpPr>
        <p:spPr>
          <a:xfrm>
            <a:off x="1065276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1" name="Rec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5640" y="521208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4652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تنظيف عميق دوري لفواصل البلاط وفتحات التصريف في دورات المياه</a:t>
            </a:r>
            <a:endParaRPr lang="ar-SA" sz="1600" dirty="0"/>
          </a:p>
        </p:txBody>
      </p:sp>
      <p:sp>
        <p:nvSpPr>
          <p:cNvPr id="23" name="Rec card 6"/>
          <p:cNvSpPr/>
          <p:nvPr/>
        </p:nvSpPr>
        <p:spPr>
          <a:xfrm>
            <a:off x="54864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4" name="Rec icon bg"/>
          <p:cNvSpPr/>
          <p:nvPr/>
        </p:nvSpPr>
        <p:spPr>
          <a:xfrm>
            <a:off x="498348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5" name="Rec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21208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7724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جولات ميدانية دورية موثقة بالصور لمتابعة التحسن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0"/>
            <a:ext cx="49679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3774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شكراً لكم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5661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 – مبنى ٤</a:t>
            </a:r>
            <a:endParaRPr lang="ar-SA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297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an Building">
  <a:themeElements>
    <a:clrScheme name="Clean Building">
      <a:dk1>
        <a:srgbClr val="12313A"/>
      </a:dk1>
      <a:lt1>
        <a:srgbClr val="FFFFFF"/>
      </a:lt1>
      <a:dk2>
        <a:srgbClr val="0F4C5C"/>
      </a:dk2>
      <a:lt2>
        <a:srgbClr val="EAF3F3"/>
      </a:lt2>
      <a:accent1>
        <a:srgbClr val="0F4C5C"/>
      </a:accent1>
      <a:accent2>
        <a:srgbClr val="E36414"/>
      </a:accent2>
      <a:accent3>
        <a:srgbClr val="2E8B6E"/>
      </a:accent3>
      <a:accent4>
        <a:srgbClr val="9A031E"/>
      </a:accent4>
      <a:accent5>
        <a:srgbClr val="5F7A80"/>
      </a:accent5>
      <a:accent6>
        <a:srgbClr val="F4A261"/>
      </a:accent6>
      <a:hlink>
        <a:srgbClr val="0F4C5C"/>
      </a:hlink>
      <a:folHlink>
        <a:srgbClr val="5F7A80"/>
      </a:folHlink>
    </a:clrScheme>
    <a:fontScheme name="Clean Build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مستوى النظافة – مبنى ٤</dc:title>
  <dc:subject>PptxGenJS Presentation</dc:subject>
  <dc:creator>PptxGenJS</dc:creator>
  <cp:lastModifiedBy>PptxGenJS</cp:lastModifiedBy>
  <cp:revision>1</cp:revision>
  <dcterms:created xsi:type="dcterms:W3CDTF">2026-10-17T20:39:02Z</dcterms:created>
  <dcterms:modified xsi:type="dcterms:W3CDTF">2026-10-17T20:39:02Z</dcterms:modified>
</cp:coreProperties>
</file>